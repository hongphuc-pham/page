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elevexai.systems/" TargetMode="External"/><Relationship Id="rId2" Type="http://schemas.openxmlformats.org/officeDocument/2006/relationships/hyperlink" Target="https://apps.apple.com/au/app/softsec-intel/id6762328734" TargetMode="External"/><Relationship Id="rId3" Type="http://schemas.openxmlformats.org/officeDocument/2006/relationships/hyperlink" Target="https://www.aidfest.tech/" TargetMode="External"/><Relationship Id="rId4" Type="http://schemas.openxmlformats.org/officeDocument/2006/relationships/hyperlink" Target="https://www.elevexai.systems/products"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mailto:hongphuc.pham@outlook.com" TargetMode="External"/><Relationship Id="rId2" Type="http://schemas.openxmlformats.org/officeDocument/2006/relationships/hyperlink" Target="https://github.com/hongphuc-pham" TargetMode="External"/><Relationship Id="rId3" Type="http://schemas.openxmlformats.org/officeDocument/2006/relationships/hyperlink" Target="https://linkedin.com/in/phucph/" TargetMode="External"/><Relationship Id="rId4" Type="http://schemas.openxmlformats.org/officeDocument/2006/relationships/hyperlink" Target="https://hongphuc-pham.github.io/page/" TargetMode="Externa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Phuc (William) Pham</a:t>
            </a:r>
            <a:endParaRPr lang="en-US" sz="1100" dirty="0"/>
          </a:p>
        </p:txBody>
      </p:sp>
      <p:sp>
        <p:nvSpPr>
          <p:cNvPr id="6" name="Text 4"/>
          <p:cNvSpPr/>
          <p:nvPr/>
        </p:nvSpPr>
        <p:spPr>
          <a:xfrm>
            <a:off x="548640" y="1463040"/>
            <a:ext cx="10972800" cy="3200400"/>
          </a:xfrm>
          <a:prstGeom prst="rect">
            <a:avLst/>
          </a:prstGeom>
          <a:noFill/>
          <a:ln/>
        </p:spPr>
        <p:txBody>
          <a:bodyPr wrap="square" rtlCol="0" anchor="ctr"/>
          <a:lstStyle/>
          <a:p>
            <a:pPr indent="0" marL="0">
              <a:lnSpc>
                <a:spcPct val="95000"/>
              </a:lnSpc>
              <a:buNone/>
            </a:pPr>
            <a:r>
              <a:rPr lang="en-US" sz="6400" b="1" spc="-200" kern="0" dirty="0">
                <a:solidFill>
                  <a:srgbClr val="EDF1F7"/>
                </a:solidFill>
                <a:latin typeface="Calibri" pitchFamily="34" charset="0"/>
                <a:ea typeface="Calibri" pitchFamily="34" charset="-122"/>
                <a:cs typeface="Calibri" pitchFamily="34" charset="-120"/>
              </a:rPr>
              <a:t>Software that </a:t>
            </a:r>
            <a:pPr indent="0" marL="0">
              <a:lnSpc>
                <a:spcPct val="95000"/>
              </a:lnSpc>
              <a:buNone/>
            </a:pPr>
            <a:r>
              <a:rPr lang="en-US" sz="6400" b="1" spc="-200" kern="0" dirty="0">
                <a:solidFill>
                  <a:srgbClr val="7CE7FF"/>
                </a:solidFill>
                <a:latin typeface="Calibri" pitchFamily="34" charset="0"/>
                <a:ea typeface="Calibri" pitchFamily="34" charset="-122"/>
                <a:cs typeface="Calibri" pitchFamily="34" charset="-120"/>
              </a:rPr>
              <a:t>serves</a:t>
            </a:r>
            <a:pPr indent="0" marL="0">
              <a:lnSpc>
                <a:spcPct val="95000"/>
              </a:lnSpc>
              <a:buNone/>
            </a:pPr>
            <a:endParaRPr lang="en-US" sz="6400" dirty="0"/>
          </a:p>
          <a:p>
            <a:pPr indent="0" marL="0">
              <a:lnSpc>
                <a:spcPct val="95000"/>
              </a:lnSpc>
              <a:buNone/>
            </a:pPr>
            <a:r>
              <a:rPr lang="en-US" sz="6400" b="1" spc="-200" kern="0" dirty="0">
                <a:solidFill>
                  <a:srgbClr val="EDF1F7"/>
                </a:solidFill>
                <a:latin typeface="Calibri" pitchFamily="34" charset="0"/>
                <a:ea typeface="Calibri" pitchFamily="34" charset="-122"/>
                <a:cs typeface="Calibri" pitchFamily="34" charset="-120"/>
              </a:rPr>
              <a:t>people, not just </a:t>
            </a:r>
            <a:endParaRPr lang="en-US" sz="6400" dirty="0"/>
          </a:p>
          <a:p>
            <a:pPr indent="0" marL="0">
              <a:lnSpc>
                <a:spcPct val="95000"/>
              </a:lnSpc>
              <a:buNone/>
            </a:pPr>
            <a:r>
              <a:rPr lang="en-US" sz="6400" b="1" i="1" spc="-200" kern="0" dirty="0">
                <a:solidFill>
                  <a:srgbClr val="EDF1F7"/>
                </a:solidFill>
                <a:latin typeface="Calibri" pitchFamily="34" charset="0"/>
                <a:ea typeface="Calibri" pitchFamily="34" charset="-122"/>
                <a:cs typeface="Calibri" pitchFamily="34" charset="-120"/>
              </a:rPr>
              <a:t>functions.</a:t>
            </a:r>
            <a:endParaRPr lang="en-US" sz="6400" dirty="0"/>
          </a:p>
        </p:txBody>
      </p:sp>
      <p:sp>
        <p:nvSpPr>
          <p:cNvPr id="7" name="Text 5"/>
          <p:cNvSpPr/>
          <p:nvPr/>
        </p:nvSpPr>
        <p:spPr>
          <a:xfrm>
            <a:off x="548640" y="4937760"/>
            <a:ext cx="7315200" cy="914400"/>
          </a:xfrm>
          <a:prstGeom prst="rect">
            <a:avLst/>
          </a:prstGeom>
          <a:noFill/>
          <a:ln/>
        </p:spPr>
        <p:txBody>
          <a:bodyPr wrap="square" rtlCol="0" anchor="ctr"/>
          <a:lstStyle/>
          <a:p>
            <a:pPr indent="0" marL="0">
              <a:lnSpc>
                <a:spcPct val="130000"/>
              </a:lnSpc>
              <a:buNone/>
            </a:pPr>
            <a:r>
              <a:rPr lang="en-US" sz="1600" dirty="0">
                <a:solidFill>
                  <a:srgbClr val="A4ACBD"/>
                </a:solidFill>
                <a:latin typeface="Calibri" pitchFamily="34" charset="0"/>
                <a:ea typeface="Calibri" pitchFamily="34" charset="-122"/>
                <a:cs typeface="Calibri" pitchFamily="34" charset="-120"/>
              </a:rPr>
              <a:t>Software Developer · Web · Mobile · ML &amp; AI</a:t>
            </a:r>
            <a:endParaRPr lang="en-US" sz="1600" dirty="0"/>
          </a:p>
          <a:p>
            <a:pPr indent="0" marL="0">
              <a:lnSpc>
                <a:spcPct val="130000"/>
              </a:lnSpc>
              <a:buNone/>
            </a:pPr>
            <a:r>
              <a:rPr lang="en-US" sz="1600" dirty="0">
                <a:solidFill>
                  <a:srgbClr val="A4ACBD"/>
                </a:solidFill>
                <a:latin typeface="Calibri" pitchFamily="34" charset="0"/>
                <a:ea typeface="Calibri" pitchFamily="34" charset="-122"/>
                <a:cs typeface="Calibri" pitchFamily="34" charset="-120"/>
              </a:rPr>
              <a:t>Adelaide, SA · ACST UTC+9:30</a:t>
            </a:r>
            <a:endParaRPr lang="en-US" sz="1600" dirty="0"/>
          </a:p>
        </p:txBody>
      </p:sp>
      <p:sp>
        <p:nvSpPr>
          <p:cNvPr id="8" name="Shape 6"/>
          <p:cNvSpPr/>
          <p:nvPr/>
        </p:nvSpPr>
        <p:spPr>
          <a:xfrm>
            <a:off x="548640" y="5943600"/>
            <a:ext cx="1371600" cy="0"/>
          </a:xfrm>
          <a:prstGeom prst="line">
            <a:avLst/>
          </a:prstGeom>
          <a:noFill/>
          <a:ln w="25400">
            <a:solidFill>
              <a:srgbClr val="7CE7FF"/>
            </a:solidFill>
            <a:prstDash val="solid"/>
          </a:ln>
        </p:spPr>
      </p:sp>
      <p:sp>
        <p:nvSpPr>
          <p:cNvPr id="9" name="Text 7"/>
          <p:cNvSpPr/>
          <p:nvPr/>
        </p:nvSpPr>
        <p:spPr>
          <a:xfrm>
            <a:off x="2103120" y="5806440"/>
            <a:ext cx="7315200" cy="27432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Interview showcase · 2026</a:t>
            </a:r>
            <a:endParaRPr lang="en-US" sz="1000" dirty="0"/>
          </a:p>
        </p:txBody>
      </p:sp>
      <p:sp>
        <p:nvSpPr>
          <p:cNvPr id="10" name="Shape 8"/>
          <p:cNvSpPr/>
          <p:nvPr/>
        </p:nvSpPr>
        <p:spPr>
          <a:xfrm>
            <a:off x="6400800" y="4937760"/>
            <a:ext cx="1325880" cy="1554480"/>
          </a:xfrm>
          <a:prstGeom prst="rect">
            <a:avLst/>
          </a:prstGeom>
          <a:solidFill>
            <a:srgbClr val="12161F"/>
          </a:solidFill>
          <a:ln w="6350">
            <a:solidFill>
              <a:srgbClr val="23293A"/>
            </a:solidFill>
            <a:prstDash val="solid"/>
          </a:ln>
        </p:spPr>
      </p:sp>
      <p:sp>
        <p:nvSpPr>
          <p:cNvPr id="11" name="Text 9"/>
          <p:cNvSpPr/>
          <p:nvPr/>
        </p:nvSpPr>
        <p:spPr>
          <a:xfrm>
            <a:off x="6492240" y="5029200"/>
            <a:ext cx="1188720" cy="502920"/>
          </a:xfrm>
          <a:prstGeom prst="rect">
            <a:avLst/>
          </a:prstGeom>
          <a:noFill/>
          <a:ln/>
        </p:spPr>
        <p:txBody>
          <a:bodyPr wrap="square" rtlCol="0" anchor="ctr"/>
          <a:lstStyle/>
          <a:p>
            <a:pPr indent="0" marL="0">
              <a:buNone/>
            </a:pPr>
            <a:r>
              <a:rPr lang="en-US" sz="1800" b="1" dirty="0">
                <a:solidFill>
                  <a:srgbClr val="7CE7FF"/>
                </a:solidFill>
                <a:latin typeface="Calibri" pitchFamily="34" charset="0"/>
                <a:ea typeface="Calibri" pitchFamily="34" charset="-122"/>
                <a:cs typeface="Calibri" pitchFamily="34" charset="-120"/>
              </a:rPr>
              <a:t>Several</a:t>
            </a:r>
            <a:endParaRPr lang="en-US" sz="1800" dirty="0"/>
          </a:p>
        </p:txBody>
      </p:sp>
      <p:sp>
        <p:nvSpPr>
          <p:cNvPr id="12" name="Text 10"/>
          <p:cNvSpPr/>
          <p:nvPr/>
        </p:nvSpPr>
        <p:spPr>
          <a:xfrm>
            <a:off x="6492240" y="5532120"/>
            <a:ext cx="1188720" cy="274320"/>
          </a:xfrm>
          <a:prstGeom prst="rect">
            <a:avLst/>
          </a:prstGeom>
          <a:noFill/>
          <a:ln/>
        </p:spPr>
        <p:txBody>
          <a:bodyPr wrap="square" rtlCol="0" anchor="ctr"/>
          <a:lstStyle/>
          <a:p>
            <a:pPr indent="0" marL="0">
              <a:buNone/>
            </a:pPr>
            <a:r>
              <a:rPr lang="en-US" sz="1000" b="1" dirty="0">
                <a:solidFill>
                  <a:srgbClr val="EDF1F7"/>
                </a:solidFill>
                <a:latin typeface="Calibri" pitchFamily="34" charset="0"/>
                <a:ea typeface="Calibri" pitchFamily="34" charset="-122"/>
                <a:cs typeface="Calibri" pitchFamily="34" charset="-120"/>
              </a:rPr>
              <a:t>apps shipped</a:t>
            </a:r>
            <a:endParaRPr lang="en-US" sz="1000" dirty="0"/>
          </a:p>
        </p:txBody>
      </p:sp>
      <p:sp>
        <p:nvSpPr>
          <p:cNvPr id="13" name="Text 11"/>
          <p:cNvSpPr/>
          <p:nvPr/>
        </p:nvSpPr>
        <p:spPr>
          <a:xfrm>
            <a:off x="6492240" y="5852160"/>
            <a:ext cx="1188720" cy="548640"/>
          </a:xfrm>
          <a:prstGeom prst="rect">
            <a:avLst/>
          </a:prstGeom>
          <a:noFill/>
          <a:ln/>
        </p:spPr>
        <p:txBody>
          <a:bodyPr wrap="square" rtlCol="0" anchor="ctr"/>
          <a:lstStyle/>
          <a:p>
            <a:pPr indent="0" marL="0">
              <a:buNone/>
            </a:pPr>
            <a:r>
              <a:rPr lang="en-US" sz="800" spc="100" kern="0" dirty="0">
                <a:solidFill>
                  <a:srgbClr val="6B7388"/>
                </a:solidFill>
                <a:latin typeface="Consolas" pitchFamily="34" charset="0"/>
                <a:ea typeface="Consolas" pitchFamily="34" charset="-122"/>
                <a:cs typeface="Consolas" pitchFamily="34" charset="-120"/>
              </a:rPr>
              <a:t>CREST · UofA</a:t>
            </a:r>
            <a:endParaRPr lang="en-US" sz="800" dirty="0"/>
          </a:p>
        </p:txBody>
      </p:sp>
      <p:sp>
        <p:nvSpPr>
          <p:cNvPr id="14" name="Shape 12"/>
          <p:cNvSpPr/>
          <p:nvPr/>
        </p:nvSpPr>
        <p:spPr>
          <a:xfrm>
            <a:off x="7818120" y="4937760"/>
            <a:ext cx="1325880" cy="1554480"/>
          </a:xfrm>
          <a:prstGeom prst="rect">
            <a:avLst/>
          </a:prstGeom>
          <a:solidFill>
            <a:srgbClr val="12161F"/>
          </a:solidFill>
          <a:ln w="6350">
            <a:solidFill>
              <a:srgbClr val="23293A"/>
            </a:solidFill>
            <a:prstDash val="solid"/>
          </a:ln>
        </p:spPr>
      </p:sp>
      <p:sp>
        <p:nvSpPr>
          <p:cNvPr id="15" name="Text 13"/>
          <p:cNvSpPr/>
          <p:nvPr/>
        </p:nvSpPr>
        <p:spPr>
          <a:xfrm>
            <a:off x="7909560" y="5029200"/>
            <a:ext cx="1188720" cy="502920"/>
          </a:xfrm>
          <a:prstGeom prst="rect">
            <a:avLst/>
          </a:prstGeom>
          <a:noFill/>
          <a:ln/>
        </p:spPr>
        <p:txBody>
          <a:bodyPr wrap="square" rtlCol="0" anchor="ctr"/>
          <a:lstStyle/>
          <a:p>
            <a:pPr indent="0" marL="0">
              <a:buNone/>
            </a:pPr>
            <a:r>
              <a:rPr lang="en-US" sz="1800" b="1" dirty="0">
                <a:solidFill>
                  <a:srgbClr val="7CE7FF"/>
                </a:solidFill>
                <a:latin typeface="Calibri" pitchFamily="34" charset="0"/>
                <a:ea typeface="Calibri" pitchFamily="34" charset="-122"/>
                <a:cs typeface="Calibri" pitchFamily="34" charset="-120"/>
              </a:rPr>
              <a:t>~10%</a:t>
            </a:r>
            <a:endParaRPr lang="en-US" sz="1800" dirty="0"/>
          </a:p>
        </p:txBody>
      </p:sp>
      <p:sp>
        <p:nvSpPr>
          <p:cNvPr id="16" name="Text 14"/>
          <p:cNvSpPr/>
          <p:nvPr/>
        </p:nvSpPr>
        <p:spPr>
          <a:xfrm>
            <a:off x="7909560" y="5532120"/>
            <a:ext cx="1188720" cy="274320"/>
          </a:xfrm>
          <a:prstGeom prst="rect">
            <a:avLst/>
          </a:prstGeom>
          <a:noFill/>
          <a:ln/>
        </p:spPr>
        <p:txBody>
          <a:bodyPr wrap="square" rtlCol="0" anchor="ctr"/>
          <a:lstStyle/>
          <a:p>
            <a:pPr indent="0" marL="0">
              <a:buNone/>
            </a:pPr>
            <a:r>
              <a:rPr lang="en-US" sz="1000" b="1" dirty="0">
                <a:solidFill>
                  <a:srgbClr val="EDF1F7"/>
                </a:solidFill>
                <a:latin typeface="Calibri" pitchFamily="34" charset="0"/>
                <a:ea typeface="Calibri" pitchFamily="34" charset="-122"/>
                <a:cs typeface="Calibri" pitchFamily="34" charset="-120"/>
              </a:rPr>
              <a:t>DR uplift</a:t>
            </a:r>
            <a:endParaRPr lang="en-US" sz="1000" dirty="0"/>
          </a:p>
        </p:txBody>
      </p:sp>
      <p:sp>
        <p:nvSpPr>
          <p:cNvPr id="17" name="Text 15"/>
          <p:cNvSpPr/>
          <p:nvPr/>
        </p:nvSpPr>
        <p:spPr>
          <a:xfrm>
            <a:off x="7909560" y="5852160"/>
            <a:ext cx="1188720" cy="548640"/>
          </a:xfrm>
          <a:prstGeom prst="rect">
            <a:avLst/>
          </a:prstGeom>
          <a:noFill/>
          <a:ln/>
        </p:spPr>
        <p:txBody>
          <a:bodyPr wrap="square" rtlCol="0" anchor="ctr"/>
          <a:lstStyle/>
          <a:p>
            <a:pPr indent="0" marL="0">
              <a:buNone/>
            </a:pPr>
            <a:r>
              <a:rPr lang="en-US" sz="800" spc="100" kern="0" dirty="0">
                <a:solidFill>
                  <a:srgbClr val="6B7388"/>
                </a:solidFill>
                <a:latin typeface="Consolas" pitchFamily="34" charset="0"/>
                <a:ea typeface="Consolas" pitchFamily="34" charset="-122"/>
                <a:cs typeface="Consolas" pitchFamily="34" charset="-120"/>
              </a:rPr>
              <a:t>Kau Mau Te Wehi · ANZ NZ</a:t>
            </a:r>
            <a:endParaRPr lang="en-US" sz="800" dirty="0"/>
          </a:p>
        </p:txBody>
      </p:sp>
      <p:sp>
        <p:nvSpPr>
          <p:cNvPr id="18" name="Shape 16"/>
          <p:cNvSpPr/>
          <p:nvPr/>
        </p:nvSpPr>
        <p:spPr>
          <a:xfrm>
            <a:off x="9235440" y="4937760"/>
            <a:ext cx="1325880" cy="1554480"/>
          </a:xfrm>
          <a:prstGeom prst="rect">
            <a:avLst/>
          </a:prstGeom>
          <a:solidFill>
            <a:srgbClr val="12161F"/>
          </a:solidFill>
          <a:ln w="6350">
            <a:solidFill>
              <a:srgbClr val="23293A"/>
            </a:solidFill>
            <a:prstDash val="solid"/>
          </a:ln>
        </p:spPr>
      </p:sp>
      <p:sp>
        <p:nvSpPr>
          <p:cNvPr id="19" name="Text 17"/>
          <p:cNvSpPr/>
          <p:nvPr/>
        </p:nvSpPr>
        <p:spPr>
          <a:xfrm>
            <a:off x="9326880" y="5029200"/>
            <a:ext cx="1188720" cy="502920"/>
          </a:xfrm>
          <a:prstGeom prst="rect">
            <a:avLst/>
          </a:prstGeom>
          <a:noFill/>
          <a:ln/>
        </p:spPr>
        <p:txBody>
          <a:bodyPr wrap="square" rtlCol="0" anchor="ctr"/>
          <a:lstStyle/>
          <a:p>
            <a:pPr indent="0" marL="0">
              <a:buNone/>
            </a:pPr>
            <a:r>
              <a:rPr lang="en-US" sz="1800" b="1" dirty="0">
                <a:solidFill>
                  <a:srgbClr val="7CE7FF"/>
                </a:solidFill>
                <a:latin typeface="Calibri" pitchFamily="34" charset="0"/>
                <a:ea typeface="Calibri" pitchFamily="34" charset="-122"/>
                <a:cs typeface="Calibri" pitchFamily="34" charset="-120"/>
              </a:rPr>
              <a:t>MLL + BIT</a:t>
            </a:r>
            <a:endParaRPr lang="en-US" sz="1800" dirty="0"/>
          </a:p>
        </p:txBody>
      </p:sp>
      <p:sp>
        <p:nvSpPr>
          <p:cNvPr id="20" name="Text 18"/>
          <p:cNvSpPr/>
          <p:nvPr/>
        </p:nvSpPr>
        <p:spPr>
          <a:xfrm>
            <a:off x="9326880" y="5532120"/>
            <a:ext cx="1188720" cy="274320"/>
          </a:xfrm>
          <a:prstGeom prst="rect">
            <a:avLst/>
          </a:prstGeom>
          <a:noFill/>
          <a:ln/>
        </p:spPr>
        <p:txBody>
          <a:bodyPr wrap="square" rtlCol="0" anchor="ctr"/>
          <a:lstStyle/>
          <a:p>
            <a:pPr indent="0" marL="0">
              <a:buNone/>
            </a:pPr>
            <a:r>
              <a:rPr lang="en-US" sz="1000" b="1" dirty="0">
                <a:solidFill>
                  <a:srgbClr val="EDF1F7"/>
                </a:solidFill>
                <a:latin typeface="Calibri" pitchFamily="34" charset="0"/>
                <a:ea typeface="Calibri" pitchFamily="34" charset="-122"/>
                <a:cs typeface="Calibri" pitchFamily="34" charset="-120"/>
              </a:rPr>
              <a:t>degrees</a:t>
            </a:r>
            <a:endParaRPr lang="en-US" sz="1000" dirty="0"/>
          </a:p>
        </p:txBody>
      </p:sp>
      <p:sp>
        <p:nvSpPr>
          <p:cNvPr id="21" name="Text 19"/>
          <p:cNvSpPr/>
          <p:nvPr/>
        </p:nvSpPr>
        <p:spPr>
          <a:xfrm>
            <a:off x="9326880" y="5852160"/>
            <a:ext cx="1188720" cy="548640"/>
          </a:xfrm>
          <a:prstGeom prst="rect">
            <a:avLst/>
          </a:prstGeom>
          <a:noFill/>
          <a:ln/>
        </p:spPr>
        <p:txBody>
          <a:bodyPr wrap="square" rtlCol="0" anchor="ctr"/>
          <a:lstStyle/>
          <a:p>
            <a:pPr indent="0" marL="0">
              <a:buNone/>
            </a:pPr>
            <a:r>
              <a:rPr lang="en-US" sz="800" spc="100" kern="0" dirty="0">
                <a:solidFill>
                  <a:srgbClr val="6B7388"/>
                </a:solidFill>
                <a:latin typeface="Consolas" pitchFamily="34" charset="0"/>
                <a:ea typeface="Consolas" pitchFamily="34" charset="-122"/>
                <a:cs typeface="Consolas" pitchFamily="34" charset="-120"/>
              </a:rPr>
              <a:t>UofA · WelTec</a:t>
            </a:r>
            <a:endParaRPr lang="en-US" sz="800" dirty="0"/>
          </a:p>
        </p:txBody>
      </p:sp>
      <p:sp>
        <p:nvSpPr>
          <p:cNvPr id="22" name="Shape 20"/>
          <p:cNvSpPr/>
          <p:nvPr/>
        </p:nvSpPr>
        <p:spPr>
          <a:xfrm>
            <a:off x="10652760" y="4937760"/>
            <a:ext cx="1325880" cy="1554480"/>
          </a:xfrm>
          <a:prstGeom prst="rect">
            <a:avLst/>
          </a:prstGeom>
          <a:solidFill>
            <a:srgbClr val="12161F"/>
          </a:solidFill>
          <a:ln w="6350">
            <a:solidFill>
              <a:srgbClr val="23293A"/>
            </a:solidFill>
            <a:prstDash val="solid"/>
          </a:ln>
        </p:spPr>
      </p:sp>
      <p:sp>
        <p:nvSpPr>
          <p:cNvPr id="23" name="Text 21"/>
          <p:cNvSpPr/>
          <p:nvPr/>
        </p:nvSpPr>
        <p:spPr>
          <a:xfrm>
            <a:off x="10744200" y="5029200"/>
            <a:ext cx="1188720" cy="502920"/>
          </a:xfrm>
          <a:prstGeom prst="rect">
            <a:avLst/>
          </a:prstGeom>
          <a:noFill/>
          <a:ln/>
        </p:spPr>
        <p:txBody>
          <a:bodyPr wrap="square" rtlCol="0" anchor="ctr"/>
          <a:lstStyle/>
          <a:p>
            <a:pPr indent="0" marL="0">
              <a:buNone/>
            </a:pPr>
            <a:r>
              <a:rPr lang="en-US" sz="1800" b="1" dirty="0">
                <a:solidFill>
                  <a:srgbClr val="7CE7FF"/>
                </a:solidFill>
                <a:latin typeface="Calibri" pitchFamily="34" charset="0"/>
                <a:ea typeface="Calibri" pitchFamily="34" charset="-122"/>
                <a:cs typeface="Calibri" pitchFamily="34" charset="-120"/>
              </a:rPr>
              <a:t>7+ yrs</a:t>
            </a:r>
            <a:endParaRPr lang="en-US" sz="1800" dirty="0"/>
          </a:p>
        </p:txBody>
      </p:sp>
      <p:sp>
        <p:nvSpPr>
          <p:cNvPr id="24" name="Text 22"/>
          <p:cNvSpPr/>
          <p:nvPr/>
        </p:nvSpPr>
        <p:spPr>
          <a:xfrm>
            <a:off x="10744200" y="5532120"/>
            <a:ext cx="1188720" cy="274320"/>
          </a:xfrm>
          <a:prstGeom prst="rect">
            <a:avLst/>
          </a:prstGeom>
          <a:noFill/>
          <a:ln/>
        </p:spPr>
        <p:txBody>
          <a:bodyPr wrap="square" rtlCol="0" anchor="ctr"/>
          <a:lstStyle/>
          <a:p>
            <a:pPr indent="0" marL="0">
              <a:buNone/>
            </a:pPr>
            <a:r>
              <a:rPr lang="en-US" sz="1000" b="1" dirty="0">
                <a:solidFill>
                  <a:srgbClr val="EDF1F7"/>
                </a:solidFill>
                <a:latin typeface="Calibri" pitchFamily="34" charset="0"/>
                <a:ea typeface="Calibri" pitchFamily="34" charset="-122"/>
                <a:cs typeface="Calibri" pitchFamily="34" charset="-120"/>
              </a:rPr>
              <a:t>full SDLC</a:t>
            </a:r>
            <a:endParaRPr lang="en-US" sz="1000" dirty="0"/>
          </a:p>
        </p:txBody>
      </p:sp>
      <p:sp>
        <p:nvSpPr>
          <p:cNvPr id="25" name="Text 23"/>
          <p:cNvSpPr/>
          <p:nvPr/>
        </p:nvSpPr>
        <p:spPr>
          <a:xfrm>
            <a:off x="10744200" y="5852160"/>
            <a:ext cx="1188720" cy="548640"/>
          </a:xfrm>
          <a:prstGeom prst="rect">
            <a:avLst/>
          </a:prstGeom>
          <a:noFill/>
          <a:ln/>
        </p:spPr>
        <p:txBody>
          <a:bodyPr wrap="square" rtlCol="0" anchor="ctr"/>
          <a:lstStyle/>
          <a:p>
            <a:pPr indent="0" marL="0">
              <a:buNone/>
            </a:pPr>
            <a:r>
              <a:rPr lang="en-US" sz="800" spc="100" kern="0" dirty="0">
                <a:solidFill>
                  <a:srgbClr val="6B7388"/>
                </a:solidFill>
                <a:latin typeface="Consolas" pitchFamily="34" charset="0"/>
                <a:ea typeface="Consolas" pitchFamily="34" charset="-122"/>
                <a:cs typeface="Consolas" pitchFamily="34" charset="-120"/>
              </a:rPr>
              <a:t>enterprise + research</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 01  </a:t>
            </a:r>
            <a:pPr indent="0" marL="0">
              <a:buNone/>
            </a:pPr>
            <a:r>
              <a:rPr lang="en-US" sz="1100" spc="400" kern="0" dirty="0">
                <a:solidFill>
                  <a:srgbClr val="A4ACBD"/>
                </a:solidFill>
                <a:latin typeface="Consolas" pitchFamily="34" charset="0"/>
                <a:ea typeface="Consolas" pitchFamily="34" charset="-122"/>
                <a:cs typeface="Consolas" pitchFamily="34" charset="-120"/>
              </a:rPr>
              <a:t>ABOUT</a:t>
            </a:r>
            <a:endParaRPr lang="en-US" sz="1100" dirty="0"/>
          </a:p>
        </p:txBody>
      </p:sp>
      <p:sp>
        <p:nvSpPr>
          <p:cNvPr id="6" name="Text 4"/>
          <p:cNvSpPr/>
          <p:nvPr/>
        </p:nvSpPr>
        <p:spPr>
          <a:xfrm>
            <a:off x="548640" y="1005840"/>
            <a:ext cx="10972800" cy="1463040"/>
          </a:xfrm>
          <a:prstGeom prst="rect">
            <a:avLst/>
          </a:prstGeom>
          <a:noFill/>
          <a:ln/>
        </p:spPr>
        <p:txBody>
          <a:bodyPr wrap="square" rtlCol="0" anchor="ctr"/>
          <a:lstStyle/>
          <a:p>
            <a:pPr indent="0" marL="0">
              <a:lnSpc>
                <a:spcPct val="100000"/>
              </a:lnSpc>
              <a:buNone/>
            </a:pPr>
            <a:r>
              <a:rPr lang="en-US" sz="3800" b="1" spc="-100" kern="0" dirty="0">
                <a:solidFill>
                  <a:srgbClr val="EDF1F7"/>
                </a:solidFill>
                <a:latin typeface="Calibri" pitchFamily="34" charset="0"/>
                <a:ea typeface="Calibri" pitchFamily="34" charset="-122"/>
                <a:cs typeface="Calibri" pitchFamily="34" charset="-120"/>
              </a:rPr>
              <a:t>Built for reliable delivery,</a:t>
            </a:r>
            <a:endParaRPr lang="en-US" sz="3800" dirty="0"/>
          </a:p>
          <a:p>
            <a:pPr indent="0" marL="0">
              <a:lnSpc>
                <a:spcPct val="100000"/>
              </a:lnSpc>
              <a:buNone/>
            </a:pPr>
            <a:r>
              <a:rPr lang="en-US" sz="3800" b="1" spc="-100" kern="0" dirty="0">
                <a:solidFill>
                  <a:srgbClr val="EDF1F7"/>
                </a:solidFill>
                <a:latin typeface="Calibri" pitchFamily="34" charset="0"/>
                <a:ea typeface="Calibri" pitchFamily="34" charset="-122"/>
                <a:cs typeface="Calibri" pitchFamily="34" charset="-120"/>
              </a:rPr>
              <a:t>curious about everything else.</a:t>
            </a:r>
            <a:endParaRPr lang="en-US" sz="3800" dirty="0"/>
          </a:p>
        </p:txBody>
      </p:sp>
      <p:sp>
        <p:nvSpPr>
          <p:cNvPr id="7" name="Text 5"/>
          <p:cNvSpPr/>
          <p:nvPr/>
        </p:nvSpPr>
        <p:spPr>
          <a:xfrm>
            <a:off x="548640" y="2743200"/>
            <a:ext cx="6858000" cy="2468880"/>
          </a:xfrm>
          <a:prstGeom prst="rect">
            <a:avLst/>
          </a:prstGeom>
          <a:noFill/>
          <a:ln/>
        </p:spPr>
        <p:txBody>
          <a:bodyPr wrap="square" rtlCol="0" anchor="ctr"/>
          <a:lstStyle/>
          <a:p>
            <a:pPr indent="0" marL="0">
              <a:lnSpc>
                <a:spcPct val="150000"/>
              </a:lnSpc>
              <a:buNone/>
            </a:pPr>
            <a:r>
              <a:rPr lang="en-US" sz="1600" dirty="0">
                <a:solidFill>
                  <a:srgbClr val="A4ACBD"/>
                </a:solidFill>
                <a:latin typeface="Calibri" pitchFamily="34" charset="0"/>
                <a:ea typeface="Calibri" pitchFamily="34" charset="-122"/>
                <a:cs typeface="Calibri" pitchFamily="34" charset="-120"/>
              </a:rPr>
              <a:t>Software Developer working across web, mobile and ML — currently shipping internal-facing tools for research and project teams at the University of Adelaide CREST, with prior enterprise work at ANZ New Zealand. Reliable in high-stakes operations, comfortable across technical and non-technical teams.</a:t>
            </a:r>
            <a:endParaRPr lang="en-US" sz="1600" dirty="0"/>
          </a:p>
        </p:txBody>
      </p:sp>
      <p:sp>
        <p:nvSpPr>
          <p:cNvPr id="8" name="Shape 6"/>
          <p:cNvSpPr/>
          <p:nvPr/>
        </p:nvSpPr>
        <p:spPr>
          <a:xfrm>
            <a:off x="7680960" y="2743200"/>
            <a:ext cx="2057400" cy="1143000"/>
          </a:xfrm>
          <a:prstGeom prst="rect">
            <a:avLst/>
          </a:prstGeom>
          <a:solidFill>
            <a:srgbClr val="12161F"/>
          </a:solidFill>
          <a:ln w="6350">
            <a:solidFill>
              <a:srgbClr val="23293A"/>
            </a:solidFill>
            <a:prstDash val="solid"/>
          </a:ln>
        </p:spPr>
      </p:sp>
      <p:sp>
        <p:nvSpPr>
          <p:cNvPr id="9" name="Text 7"/>
          <p:cNvSpPr/>
          <p:nvPr/>
        </p:nvSpPr>
        <p:spPr>
          <a:xfrm>
            <a:off x="7818120" y="2834640"/>
            <a:ext cx="1828800" cy="320040"/>
          </a:xfrm>
          <a:prstGeom prst="rect">
            <a:avLst/>
          </a:prstGeom>
          <a:noFill/>
          <a:ln/>
        </p:spPr>
        <p:txBody>
          <a:bodyPr wrap="square" rtlCol="0" anchor="ctr"/>
          <a:lstStyle/>
          <a:p>
            <a:pPr indent="0" marL="0">
              <a:buNone/>
            </a:pPr>
            <a:r>
              <a:rPr lang="en-US" sz="1200" b="1" dirty="0">
                <a:solidFill>
                  <a:srgbClr val="7CE7FF"/>
                </a:solidFill>
                <a:latin typeface="Calibri" pitchFamily="34" charset="0"/>
                <a:ea typeface="Calibri" pitchFamily="34" charset="-122"/>
                <a:cs typeface="Calibri" pitchFamily="34" charset="-120"/>
              </a:rPr>
              <a:t>Backend &amp; data</a:t>
            </a:r>
            <a:endParaRPr lang="en-US" sz="1200" dirty="0"/>
          </a:p>
        </p:txBody>
      </p:sp>
      <p:sp>
        <p:nvSpPr>
          <p:cNvPr id="10" name="Text 8"/>
          <p:cNvSpPr/>
          <p:nvPr/>
        </p:nvSpPr>
        <p:spPr>
          <a:xfrm>
            <a:off x="7818120" y="3154680"/>
            <a:ext cx="1828800" cy="640080"/>
          </a:xfrm>
          <a:prstGeom prst="rect">
            <a:avLst/>
          </a:prstGeom>
          <a:noFill/>
          <a:ln/>
        </p:spPr>
        <p:txBody>
          <a:bodyPr wrap="square" rtlCol="0" anchor="ctr"/>
          <a:lstStyle/>
          <a:p>
            <a:pPr indent="0" marL="0">
              <a:lnSpc>
                <a:spcPct val="125000"/>
              </a:lnSpc>
              <a:buNone/>
            </a:pPr>
            <a:r>
              <a:rPr lang="en-US" sz="900" dirty="0">
                <a:solidFill>
                  <a:srgbClr val="A4ACBD"/>
                </a:solidFill>
                <a:latin typeface="Calibri" pitchFamily="34" charset="0"/>
                <a:ea typeface="Calibri" pitchFamily="34" charset="-122"/>
                <a:cs typeface="Calibri" pitchFamily="34" charset="-120"/>
              </a:rPr>
              <a:t>Node.js, Python, FastAPI; Postgres, MongoDB, Milvus, Neo4j.</a:t>
            </a:r>
            <a:endParaRPr lang="en-US" sz="900" dirty="0"/>
          </a:p>
        </p:txBody>
      </p:sp>
      <p:sp>
        <p:nvSpPr>
          <p:cNvPr id="11" name="Shape 9"/>
          <p:cNvSpPr/>
          <p:nvPr/>
        </p:nvSpPr>
        <p:spPr>
          <a:xfrm>
            <a:off x="9829800" y="2743200"/>
            <a:ext cx="2057400" cy="1143000"/>
          </a:xfrm>
          <a:prstGeom prst="rect">
            <a:avLst/>
          </a:prstGeom>
          <a:solidFill>
            <a:srgbClr val="12161F"/>
          </a:solidFill>
          <a:ln w="6350">
            <a:solidFill>
              <a:srgbClr val="23293A"/>
            </a:solidFill>
            <a:prstDash val="solid"/>
          </a:ln>
        </p:spPr>
      </p:sp>
      <p:sp>
        <p:nvSpPr>
          <p:cNvPr id="12" name="Text 10"/>
          <p:cNvSpPr/>
          <p:nvPr/>
        </p:nvSpPr>
        <p:spPr>
          <a:xfrm>
            <a:off x="9966960" y="2834640"/>
            <a:ext cx="1828800" cy="320040"/>
          </a:xfrm>
          <a:prstGeom prst="rect">
            <a:avLst/>
          </a:prstGeom>
          <a:noFill/>
          <a:ln/>
        </p:spPr>
        <p:txBody>
          <a:bodyPr wrap="square" rtlCol="0" anchor="ctr"/>
          <a:lstStyle/>
          <a:p>
            <a:pPr indent="0" marL="0">
              <a:buNone/>
            </a:pPr>
            <a:r>
              <a:rPr lang="en-US" sz="1200" b="1" dirty="0">
                <a:solidFill>
                  <a:srgbClr val="7CE7FF"/>
                </a:solidFill>
                <a:latin typeface="Calibri" pitchFamily="34" charset="0"/>
                <a:ea typeface="Calibri" pitchFamily="34" charset="-122"/>
                <a:cs typeface="Calibri" pitchFamily="34" charset="-120"/>
              </a:rPr>
              <a:t>AI / ML</a:t>
            </a:r>
            <a:endParaRPr lang="en-US" sz="1200" dirty="0"/>
          </a:p>
        </p:txBody>
      </p:sp>
      <p:sp>
        <p:nvSpPr>
          <p:cNvPr id="13" name="Text 11"/>
          <p:cNvSpPr/>
          <p:nvPr/>
        </p:nvSpPr>
        <p:spPr>
          <a:xfrm>
            <a:off x="9966960" y="3154680"/>
            <a:ext cx="1828800" cy="640080"/>
          </a:xfrm>
          <a:prstGeom prst="rect">
            <a:avLst/>
          </a:prstGeom>
          <a:noFill/>
          <a:ln/>
        </p:spPr>
        <p:txBody>
          <a:bodyPr wrap="square" rtlCol="0" anchor="ctr"/>
          <a:lstStyle/>
          <a:p>
            <a:pPr indent="0" marL="0">
              <a:lnSpc>
                <a:spcPct val="125000"/>
              </a:lnSpc>
              <a:buNone/>
            </a:pPr>
            <a:r>
              <a:rPr lang="en-US" sz="900" dirty="0">
                <a:solidFill>
                  <a:srgbClr val="A4ACBD"/>
                </a:solidFill>
                <a:latin typeface="Calibri" pitchFamily="34" charset="0"/>
                <a:ea typeface="Calibri" pitchFamily="34" charset="-122"/>
                <a:cs typeface="Calibri" pitchFamily="34" charset="-120"/>
              </a:rPr>
              <a:t>RAG, fine-tuning, inference pipelines; Prefect orchestration.</a:t>
            </a:r>
            <a:endParaRPr lang="en-US" sz="900" dirty="0"/>
          </a:p>
        </p:txBody>
      </p:sp>
      <p:sp>
        <p:nvSpPr>
          <p:cNvPr id="14" name="Shape 12"/>
          <p:cNvSpPr/>
          <p:nvPr/>
        </p:nvSpPr>
        <p:spPr>
          <a:xfrm>
            <a:off x="7680960" y="4023360"/>
            <a:ext cx="2057400" cy="1143000"/>
          </a:xfrm>
          <a:prstGeom prst="rect">
            <a:avLst/>
          </a:prstGeom>
          <a:solidFill>
            <a:srgbClr val="12161F"/>
          </a:solidFill>
          <a:ln w="6350">
            <a:solidFill>
              <a:srgbClr val="23293A"/>
            </a:solidFill>
            <a:prstDash val="solid"/>
          </a:ln>
        </p:spPr>
      </p:sp>
      <p:sp>
        <p:nvSpPr>
          <p:cNvPr id="15" name="Text 13"/>
          <p:cNvSpPr/>
          <p:nvPr/>
        </p:nvSpPr>
        <p:spPr>
          <a:xfrm>
            <a:off x="7818120" y="4114800"/>
            <a:ext cx="1828800" cy="320040"/>
          </a:xfrm>
          <a:prstGeom prst="rect">
            <a:avLst/>
          </a:prstGeom>
          <a:noFill/>
          <a:ln/>
        </p:spPr>
        <p:txBody>
          <a:bodyPr wrap="square" rtlCol="0" anchor="ctr"/>
          <a:lstStyle/>
          <a:p>
            <a:pPr indent="0" marL="0">
              <a:buNone/>
            </a:pPr>
            <a:r>
              <a:rPr lang="en-US" sz="1200" b="1" dirty="0">
                <a:solidFill>
                  <a:srgbClr val="7CE7FF"/>
                </a:solidFill>
                <a:latin typeface="Calibri" pitchFamily="34" charset="0"/>
                <a:ea typeface="Calibri" pitchFamily="34" charset="-122"/>
                <a:cs typeface="Calibri" pitchFamily="34" charset="-120"/>
              </a:rPr>
              <a:t>Delivery</a:t>
            </a:r>
            <a:endParaRPr lang="en-US" sz="1200" dirty="0"/>
          </a:p>
        </p:txBody>
      </p:sp>
      <p:sp>
        <p:nvSpPr>
          <p:cNvPr id="16" name="Text 14"/>
          <p:cNvSpPr/>
          <p:nvPr/>
        </p:nvSpPr>
        <p:spPr>
          <a:xfrm>
            <a:off x="7818120" y="4434840"/>
            <a:ext cx="1828800" cy="640080"/>
          </a:xfrm>
          <a:prstGeom prst="rect">
            <a:avLst/>
          </a:prstGeom>
          <a:noFill/>
          <a:ln/>
        </p:spPr>
        <p:txBody>
          <a:bodyPr wrap="square" rtlCol="0" anchor="ctr"/>
          <a:lstStyle/>
          <a:p>
            <a:pPr indent="0" marL="0">
              <a:lnSpc>
                <a:spcPct val="125000"/>
              </a:lnSpc>
              <a:buNone/>
            </a:pPr>
            <a:r>
              <a:rPr lang="en-US" sz="900" dirty="0">
                <a:solidFill>
                  <a:srgbClr val="A4ACBD"/>
                </a:solidFill>
                <a:latin typeface="Calibri" pitchFamily="34" charset="0"/>
                <a:ea typeface="Calibri" pitchFamily="34" charset="-122"/>
                <a:cs typeface="Calibri" pitchFamily="34" charset="-120"/>
              </a:rPr>
              <a:t>GitHub Actions CI/CD, Docker, OpenStack/OpenShift.</a:t>
            </a:r>
            <a:endParaRPr lang="en-US" sz="900" dirty="0"/>
          </a:p>
        </p:txBody>
      </p:sp>
      <p:sp>
        <p:nvSpPr>
          <p:cNvPr id="17" name="Shape 15"/>
          <p:cNvSpPr/>
          <p:nvPr/>
        </p:nvSpPr>
        <p:spPr>
          <a:xfrm>
            <a:off x="9829800" y="4023360"/>
            <a:ext cx="2057400" cy="1143000"/>
          </a:xfrm>
          <a:prstGeom prst="rect">
            <a:avLst/>
          </a:prstGeom>
          <a:solidFill>
            <a:srgbClr val="12161F"/>
          </a:solidFill>
          <a:ln w="6350">
            <a:solidFill>
              <a:srgbClr val="23293A"/>
            </a:solidFill>
            <a:prstDash val="solid"/>
          </a:ln>
        </p:spPr>
      </p:sp>
      <p:sp>
        <p:nvSpPr>
          <p:cNvPr id="18" name="Text 16"/>
          <p:cNvSpPr/>
          <p:nvPr/>
        </p:nvSpPr>
        <p:spPr>
          <a:xfrm>
            <a:off x="9966960" y="4114800"/>
            <a:ext cx="1828800" cy="320040"/>
          </a:xfrm>
          <a:prstGeom prst="rect">
            <a:avLst/>
          </a:prstGeom>
          <a:noFill/>
          <a:ln/>
        </p:spPr>
        <p:txBody>
          <a:bodyPr wrap="square" rtlCol="0" anchor="ctr"/>
          <a:lstStyle/>
          <a:p>
            <a:pPr indent="0" marL="0">
              <a:buNone/>
            </a:pPr>
            <a:r>
              <a:rPr lang="en-US" sz="1200" b="1" dirty="0">
                <a:solidFill>
                  <a:srgbClr val="7CE7FF"/>
                </a:solidFill>
                <a:latin typeface="Calibri" pitchFamily="34" charset="0"/>
                <a:ea typeface="Calibri" pitchFamily="34" charset="-122"/>
                <a:cs typeface="Calibri" pitchFamily="34" charset="-120"/>
              </a:rPr>
              <a:t>Collab</a:t>
            </a:r>
            <a:endParaRPr lang="en-US" sz="1200" dirty="0"/>
          </a:p>
        </p:txBody>
      </p:sp>
      <p:sp>
        <p:nvSpPr>
          <p:cNvPr id="19" name="Text 17"/>
          <p:cNvSpPr/>
          <p:nvPr/>
        </p:nvSpPr>
        <p:spPr>
          <a:xfrm>
            <a:off x="9966960" y="4434840"/>
            <a:ext cx="1828800" cy="640080"/>
          </a:xfrm>
          <a:prstGeom prst="rect">
            <a:avLst/>
          </a:prstGeom>
          <a:noFill/>
          <a:ln/>
        </p:spPr>
        <p:txBody>
          <a:bodyPr wrap="square" rtlCol="0" anchor="ctr"/>
          <a:lstStyle/>
          <a:p>
            <a:pPr indent="0" marL="0">
              <a:lnSpc>
                <a:spcPct val="125000"/>
              </a:lnSpc>
              <a:buNone/>
            </a:pPr>
            <a:r>
              <a:rPr lang="en-US" sz="900" dirty="0">
                <a:solidFill>
                  <a:srgbClr val="A4ACBD"/>
                </a:solidFill>
                <a:latin typeface="Calibri" pitchFamily="34" charset="0"/>
                <a:ea typeface="Calibri" pitchFamily="34" charset="-122"/>
                <a:cs typeface="Calibri" pitchFamily="34" charset="-120"/>
              </a:rPr>
              <a:t>API design reviews, Swagger, mentoring student contributors.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 02  </a:t>
            </a:r>
            <a:pPr indent="0" marL="0">
              <a:buNone/>
            </a:pPr>
            <a:r>
              <a:rPr lang="en-US" sz="1100" spc="400" kern="0" dirty="0">
                <a:solidFill>
                  <a:srgbClr val="A4ACBD"/>
                </a:solidFill>
                <a:latin typeface="Consolas" pitchFamily="34" charset="0"/>
                <a:ea typeface="Consolas" pitchFamily="34" charset="-122"/>
                <a:cs typeface="Consolas" pitchFamily="34" charset="-120"/>
              </a:rPr>
              <a:t>STACK</a:t>
            </a:r>
            <a:endParaRPr lang="en-US" sz="1100" dirty="0"/>
          </a:p>
        </p:txBody>
      </p:sp>
      <p:sp>
        <p:nvSpPr>
          <p:cNvPr id="6" name="Text 4"/>
          <p:cNvSpPr/>
          <p:nvPr/>
        </p:nvSpPr>
        <p:spPr>
          <a:xfrm>
            <a:off x="548640" y="1005840"/>
            <a:ext cx="10972800" cy="731520"/>
          </a:xfrm>
          <a:prstGeom prst="rect">
            <a:avLst/>
          </a:prstGeom>
          <a:noFill/>
          <a:ln/>
        </p:spPr>
        <p:txBody>
          <a:bodyPr wrap="square" rtlCol="0" anchor="ctr"/>
          <a:lstStyle/>
          <a:p>
            <a:pPr indent="0" marL="0">
              <a:buNone/>
            </a:pPr>
            <a:r>
              <a:rPr lang="en-US" sz="3600" b="1" spc="-100" kern="0" dirty="0">
                <a:solidFill>
                  <a:srgbClr val="EDF1F7"/>
                </a:solidFill>
                <a:latin typeface="Calibri" pitchFamily="34" charset="0"/>
                <a:ea typeface="Calibri" pitchFamily="34" charset="-122"/>
                <a:cs typeface="Calibri" pitchFamily="34" charset="-120"/>
              </a:rPr>
              <a:t>Tools I reach for.</a:t>
            </a:r>
            <a:endParaRPr lang="en-US" sz="3600" dirty="0"/>
          </a:p>
        </p:txBody>
      </p:sp>
      <p:sp>
        <p:nvSpPr>
          <p:cNvPr id="7" name="Text 5"/>
          <p:cNvSpPr/>
          <p:nvPr/>
        </p:nvSpPr>
        <p:spPr>
          <a:xfrm>
            <a:off x="548640" y="2103120"/>
            <a:ext cx="2194560" cy="36576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LANGUAGES</a:t>
            </a:r>
            <a:endParaRPr lang="en-US" sz="1000" dirty="0"/>
          </a:p>
        </p:txBody>
      </p:sp>
      <p:sp>
        <p:nvSpPr>
          <p:cNvPr id="8" name="Text 6"/>
          <p:cNvSpPr/>
          <p:nvPr/>
        </p:nvSpPr>
        <p:spPr>
          <a:xfrm>
            <a:off x="2834640" y="2103120"/>
            <a:ext cx="8869680" cy="365760"/>
          </a:xfrm>
          <a:prstGeom prst="rect">
            <a:avLst/>
          </a:prstGeom>
          <a:noFill/>
          <a:ln/>
        </p:spPr>
        <p:txBody>
          <a:bodyPr wrap="square" rtlCol="0" anchor="ctr"/>
          <a:lstStyle/>
          <a:p>
            <a:pPr indent="0" marL="0">
              <a:buNone/>
            </a:pPr>
            <a:r>
              <a:rPr lang="en-US" sz="1200" dirty="0">
                <a:solidFill>
                  <a:srgbClr val="EDF1F7"/>
                </a:solidFill>
                <a:latin typeface="Calibri" pitchFamily="34" charset="0"/>
                <a:ea typeface="Calibri" pitchFamily="34" charset="-122"/>
                <a:cs typeface="Calibri" pitchFamily="34" charset="-120"/>
              </a:rPr>
              <a:t>Python   ·   JavaScript   ·   TypeScript   ·   SQL   ·   Java   ·   Bash</a:t>
            </a:r>
            <a:endParaRPr lang="en-US" sz="1200" dirty="0"/>
          </a:p>
        </p:txBody>
      </p:sp>
      <p:sp>
        <p:nvSpPr>
          <p:cNvPr id="9" name="Text 7"/>
          <p:cNvSpPr/>
          <p:nvPr/>
        </p:nvSpPr>
        <p:spPr>
          <a:xfrm>
            <a:off x="548640" y="2743200"/>
            <a:ext cx="2194560" cy="36576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BACKEND &amp; FRONTEND</a:t>
            </a:r>
            <a:endParaRPr lang="en-US" sz="1000" dirty="0"/>
          </a:p>
        </p:txBody>
      </p:sp>
      <p:sp>
        <p:nvSpPr>
          <p:cNvPr id="10" name="Text 8"/>
          <p:cNvSpPr/>
          <p:nvPr/>
        </p:nvSpPr>
        <p:spPr>
          <a:xfrm>
            <a:off x="2834640" y="2743200"/>
            <a:ext cx="8869680" cy="365760"/>
          </a:xfrm>
          <a:prstGeom prst="rect">
            <a:avLst/>
          </a:prstGeom>
          <a:noFill/>
          <a:ln/>
        </p:spPr>
        <p:txBody>
          <a:bodyPr wrap="square" rtlCol="0" anchor="ctr"/>
          <a:lstStyle/>
          <a:p>
            <a:pPr indent="0" marL="0">
              <a:buNone/>
            </a:pPr>
            <a:r>
              <a:rPr lang="en-US" sz="1200" dirty="0">
                <a:solidFill>
                  <a:srgbClr val="EDF1F7"/>
                </a:solidFill>
                <a:latin typeface="Calibri" pitchFamily="34" charset="0"/>
                <a:ea typeface="Calibri" pitchFamily="34" charset="-122"/>
                <a:cs typeface="Calibri" pitchFamily="34" charset="-120"/>
              </a:rPr>
              <a:t>React   ·   Next.js   ·   React Native   ·   Node.js   ·   FastAPI   ·   Spring Boot   ·   REST APIs   ·   Microservices   ·   Integration services</a:t>
            </a:r>
            <a:endParaRPr lang="en-US" sz="1200" dirty="0"/>
          </a:p>
        </p:txBody>
      </p:sp>
      <p:sp>
        <p:nvSpPr>
          <p:cNvPr id="11" name="Text 9"/>
          <p:cNvSpPr/>
          <p:nvPr/>
        </p:nvSpPr>
        <p:spPr>
          <a:xfrm>
            <a:off x="548640" y="3383280"/>
            <a:ext cx="2194560" cy="36576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DATABASES</a:t>
            </a:r>
            <a:endParaRPr lang="en-US" sz="1000" dirty="0"/>
          </a:p>
        </p:txBody>
      </p:sp>
      <p:sp>
        <p:nvSpPr>
          <p:cNvPr id="12" name="Text 10"/>
          <p:cNvSpPr/>
          <p:nvPr/>
        </p:nvSpPr>
        <p:spPr>
          <a:xfrm>
            <a:off x="2834640" y="3383280"/>
            <a:ext cx="8869680" cy="365760"/>
          </a:xfrm>
          <a:prstGeom prst="rect">
            <a:avLst/>
          </a:prstGeom>
          <a:noFill/>
          <a:ln/>
        </p:spPr>
        <p:txBody>
          <a:bodyPr wrap="square" rtlCol="0" anchor="ctr"/>
          <a:lstStyle/>
          <a:p>
            <a:pPr indent="0" marL="0">
              <a:buNone/>
            </a:pPr>
            <a:r>
              <a:rPr lang="en-US" sz="1200" dirty="0">
                <a:solidFill>
                  <a:srgbClr val="EDF1F7"/>
                </a:solidFill>
                <a:latin typeface="Calibri" pitchFamily="34" charset="0"/>
                <a:ea typeface="Calibri" pitchFamily="34" charset="-122"/>
                <a:cs typeface="Calibri" pitchFamily="34" charset="-120"/>
              </a:rPr>
              <a:t>PostgreSQL   ·   MS SQL Server   ·   MongoDB   ·   Oracle DB   ·   Neo4j   ·   Milvus   ·   Data modelling</a:t>
            </a:r>
            <a:endParaRPr lang="en-US" sz="1200" dirty="0"/>
          </a:p>
        </p:txBody>
      </p:sp>
      <p:sp>
        <p:nvSpPr>
          <p:cNvPr id="13" name="Text 11"/>
          <p:cNvSpPr/>
          <p:nvPr/>
        </p:nvSpPr>
        <p:spPr>
          <a:xfrm>
            <a:off x="548640" y="4023360"/>
            <a:ext cx="2194560" cy="36576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INFRASTRUCTURE</a:t>
            </a:r>
            <a:endParaRPr lang="en-US" sz="1000" dirty="0"/>
          </a:p>
        </p:txBody>
      </p:sp>
      <p:sp>
        <p:nvSpPr>
          <p:cNvPr id="14" name="Text 12"/>
          <p:cNvSpPr/>
          <p:nvPr/>
        </p:nvSpPr>
        <p:spPr>
          <a:xfrm>
            <a:off x="2834640" y="4023360"/>
            <a:ext cx="8869680" cy="365760"/>
          </a:xfrm>
          <a:prstGeom prst="rect">
            <a:avLst/>
          </a:prstGeom>
          <a:noFill/>
          <a:ln/>
        </p:spPr>
        <p:txBody>
          <a:bodyPr wrap="square" rtlCol="0" anchor="ctr"/>
          <a:lstStyle/>
          <a:p>
            <a:pPr indent="0" marL="0">
              <a:buNone/>
            </a:pPr>
            <a:r>
              <a:rPr lang="en-US" sz="1200" dirty="0">
                <a:solidFill>
                  <a:srgbClr val="EDF1F7"/>
                </a:solidFill>
                <a:latin typeface="Calibri" pitchFamily="34" charset="0"/>
                <a:ea typeface="Calibri" pitchFamily="34" charset="-122"/>
                <a:cs typeface="Calibri" pitchFamily="34" charset="-120"/>
              </a:rPr>
              <a:t>Docker   ·   Kubernetes   ·   OpenShift   ·   OpenStack   ·   CI/CD   ·   GitHub Actions   ·   Git</a:t>
            </a:r>
            <a:endParaRPr lang="en-US" sz="1200" dirty="0"/>
          </a:p>
        </p:txBody>
      </p:sp>
      <p:sp>
        <p:nvSpPr>
          <p:cNvPr id="15" name="Text 13"/>
          <p:cNvSpPr/>
          <p:nvPr/>
        </p:nvSpPr>
        <p:spPr>
          <a:xfrm>
            <a:off x="548640" y="4663440"/>
            <a:ext cx="2194560" cy="365760"/>
          </a:xfrm>
          <a:prstGeom prst="rect">
            <a:avLst/>
          </a:prstGeom>
          <a:noFill/>
          <a:ln/>
        </p:spPr>
        <p:txBody>
          <a:bodyPr wrap="square" rtlCol="0" anchor="ctr"/>
          <a:lstStyle/>
          <a:p>
            <a:pPr indent="0" marL="0">
              <a:buNone/>
            </a:pPr>
            <a:r>
              <a:rPr lang="en-US" sz="1000" spc="400" kern="0" dirty="0">
                <a:solidFill>
                  <a:srgbClr val="6B7388"/>
                </a:solidFill>
                <a:latin typeface="Consolas" pitchFamily="34" charset="0"/>
                <a:ea typeface="Consolas" pitchFamily="34" charset="-122"/>
                <a:cs typeface="Consolas" pitchFamily="34" charset="-120"/>
              </a:rPr>
              <a:t>AI &amp; ML</a:t>
            </a:r>
            <a:endParaRPr lang="en-US" sz="1000" dirty="0"/>
          </a:p>
        </p:txBody>
      </p:sp>
      <p:sp>
        <p:nvSpPr>
          <p:cNvPr id="16" name="Text 14"/>
          <p:cNvSpPr/>
          <p:nvPr/>
        </p:nvSpPr>
        <p:spPr>
          <a:xfrm>
            <a:off x="2834640" y="4663440"/>
            <a:ext cx="8869680" cy="365760"/>
          </a:xfrm>
          <a:prstGeom prst="rect">
            <a:avLst/>
          </a:prstGeom>
          <a:noFill/>
          <a:ln/>
        </p:spPr>
        <p:txBody>
          <a:bodyPr wrap="square" rtlCol="0" anchor="ctr"/>
          <a:lstStyle/>
          <a:p>
            <a:pPr indent="0" marL="0">
              <a:buNone/>
            </a:pPr>
            <a:r>
              <a:rPr lang="en-US" sz="1200" dirty="0">
                <a:solidFill>
                  <a:srgbClr val="EDF1F7"/>
                </a:solidFill>
                <a:latin typeface="Calibri" pitchFamily="34" charset="0"/>
                <a:ea typeface="Calibri" pitchFamily="34" charset="-122"/>
                <a:cs typeface="Calibri" pitchFamily="34" charset="-120"/>
              </a:rPr>
              <a:t>LLM integration   ·   RAG   ·   Data pipelines   ·   Model fine-tuning   ·   Ollama   ·   PyTorch   ·   TensorFlow</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C6FF3D"/>
          </a:solidFill>
          <a:ln/>
        </p:spPr>
      </p:sp>
      <p:sp>
        <p:nvSpPr>
          <p:cNvPr id="3" name="Shape 1"/>
          <p:cNvSpPr/>
          <p:nvPr/>
        </p:nvSpPr>
        <p:spPr>
          <a:xfrm>
            <a:off x="8534095" y="4114800"/>
            <a:ext cx="4572000" cy="4572000"/>
          </a:xfrm>
          <a:prstGeom prst="ellipse">
            <a:avLst/>
          </a:prstGeom>
          <a:solidFill>
            <a:srgbClr val="C6FF3D">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C6FF3D"/>
                </a:solidFill>
                <a:latin typeface="Consolas" pitchFamily="34" charset="0"/>
                <a:ea typeface="Consolas" pitchFamily="34" charset="-122"/>
                <a:cs typeface="Consolas" pitchFamily="34" charset="-120"/>
              </a:rPr>
              <a:t>// 03  </a:t>
            </a:r>
            <a:pPr indent="0" marL="0">
              <a:buNone/>
            </a:pPr>
            <a:r>
              <a:rPr lang="en-US" sz="1100" spc="400" kern="0" dirty="0">
                <a:solidFill>
                  <a:srgbClr val="A4ACBD"/>
                </a:solidFill>
                <a:latin typeface="Consolas" pitchFamily="34" charset="0"/>
                <a:ea typeface="Consolas" pitchFamily="34" charset="-122"/>
                <a:cs typeface="Consolas" pitchFamily="34" charset="-120"/>
              </a:rPr>
              <a:t>LIVE &amp; SHIPPING</a:t>
            </a:r>
            <a:endParaRPr lang="en-US" sz="1100" dirty="0"/>
          </a:p>
        </p:txBody>
      </p:sp>
      <p:sp>
        <p:nvSpPr>
          <p:cNvPr id="6" name="Text 4"/>
          <p:cNvSpPr/>
          <p:nvPr/>
        </p:nvSpPr>
        <p:spPr>
          <a:xfrm>
            <a:off x="548640" y="914400"/>
            <a:ext cx="10972800" cy="1280160"/>
          </a:xfrm>
          <a:prstGeom prst="rect">
            <a:avLst/>
          </a:prstGeom>
          <a:noFill/>
          <a:ln/>
        </p:spPr>
        <p:txBody>
          <a:bodyPr wrap="square" rtlCol="0" anchor="ctr"/>
          <a:lstStyle/>
          <a:p>
            <a:pPr indent="0" marL="0">
              <a:lnSpc>
                <a:spcPct val="105000"/>
              </a:lnSpc>
              <a:buNone/>
            </a:pPr>
            <a:r>
              <a:rPr lang="en-US" sz="3000" b="1" spc="-100" kern="0" dirty="0">
                <a:solidFill>
                  <a:srgbClr val="EDF1F7"/>
                </a:solidFill>
                <a:latin typeface="Calibri" pitchFamily="34" charset="0"/>
                <a:ea typeface="Calibri" pitchFamily="34" charset="-122"/>
                <a:cs typeface="Calibri" pitchFamily="34" charset="-120"/>
              </a:rPr>
              <a:t>Products you can visit, install,</a:t>
            </a:r>
            <a:endParaRPr lang="en-US" sz="3000" dirty="0"/>
          </a:p>
          <a:p>
            <a:pPr indent="0" marL="0">
              <a:lnSpc>
                <a:spcPct val="105000"/>
              </a:lnSpc>
              <a:buNone/>
            </a:pPr>
            <a:r>
              <a:rPr lang="en-US" sz="3000" b="1" spc="-100" kern="0" dirty="0">
                <a:solidFill>
                  <a:srgbClr val="EDF1F7"/>
                </a:solidFill>
                <a:latin typeface="Calibri" pitchFamily="34" charset="0"/>
                <a:ea typeface="Calibri" pitchFamily="34" charset="-122"/>
                <a:cs typeface="Calibri" pitchFamily="34" charset="-120"/>
              </a:rPr>
              <a:t>or read about today.</a:t>
            </a:r>
            <a:endParaRPr lang="en-US" sz="3000" dirty="0"/>
          </a:p>
        </p:txBody>
      </p:sp>
      <p:sp>
        <p:nvSpPr>
          <p:cNvPr id="7" name="Shape 5"/>
          <p:cNvSpPr/>
          <p:nvPr/>
        </p:nvSpPr>
        <p:spPr>
          <a:xfrm>
            <a:off x="548640" y="2468880"/>
            <a:ext cx="5303520" cy="1965960"/>
          </a:xfrm>
          <a:prstGeom prst="rect">
            <a:avLst/>
          </a:prstGeom>
          <a:solidFill>
            <a:srgbClr val="12161F"/>
          </a:solidFill>
          <a:ln w="6350">
            <a:solidFill>
              <a:srgbClr val="23293A"/>
            </a:solidFill>
            <a:prstDash val="solid"/>
          </a:ln>
        </p:spPr>
      </p:sp>
      <p:sp>
        <p:nvSpPr>
          <p:cNvPr id="8" name="Shape 6"/>
          <p:cNvSpPr/>
          <p:nvPr/>
        </p:nvSpPr>
        <p:spPr>
          <a:xfrm>
            <a:off x="548640" y="2468880"/>
            <a:ext cx="5303520" cy="54864"/>
          </a:xfrm>
          <a:prstGeom prst="rect">
            <a:avLst/>
          </a:prstGeom>
          <a:solidFill>
            <a:srgbClr val="7CE7FF"/>
          </a:solidFill>
          <a:ln/>
        </p:spPr>
      </p:sp>
      <p:sp>
        <p:nvSpPr>
          <p:cNvPr id="9" name="Text 7"/>
          <p:cNvSpPr/>
          <p:nvPr/>
        </p:nvSpPr>
        <p:spPr>
          <a:xfrm>
            <a:off x="731520" y="2633472"/>
            <a:ext cx="1463040" cy="274320"/>
          </a:xfrm>
          <a:prstGeom prst="rect">
            <a:avLst/>
          </a:prstGeom>
          <a:noFill/>
          <a:ln/>
        </p:spPr>
        <p:txBody>
          <a:bodyPr wrap="square" rtlCol="0" anchor="ctr"/>
          <a:lstStyle/>
          <a:p>
            <a:pPr indent="0" marL="0">
              <a:buNone/>
            </a:pPr>
            <a:r>
              <a:rPr lang="en-US" sz="900" b="1" spc="300" kern="0" dirty="0">
                <a:solidFill>
                  <a:srgbClr val="7CE7FF"/>
                </a:solidFill>
                <a:latin typeface="Consolas" pitchFamily="34" charset="0"/>
                <a:ea typeface="Consolas" pitchFamily="34" charset="-122"/>
                <a:cs typeface="Consolas" pitchFamily="34" charset="-120"/>
              </a:rPr>
              <a:t>LIVE</a:t>
            </a:r>
            <a:endParaRPr lang="en-US" sz="900" dirty="0"/>
          </a:p>
        </p:txBody>
      </p:sp>
      <p:sp>
        <p:nvSpPr>
          <p:cNvPr id="10" name="Text 8"/>
          <p:cNvSpPr/>
          <p:nvPr/>
        </p:nvSpPr>
        <p:spPr>
          <a:xfrm>
            <a:off x="4114800" y="2633472"/>
            <a:ext cx="155448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WEB · LIVE</a:t>
            </a:r>
            <a:endParaRPr lang="en-US" sz="900" dirty="0"/>
          </a:p>
        </p:txBody>
      </p:sp>
      <p:sp>
        <p:nvSpPr>
          <p:cNvPr id="11" name="Text 9"/>
          <p:cNvSpPr/>
          <p:nvPr/>
        </p:nvSpPr>
        <p:spPr>
          <a:xfrm>
            <a:off x="731520" y="2971800"/>
            <a:ext cx="4937760" cy="45720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ElevexAI</a:t>
            </a:r>
            <a:pPr indent="0" marL="0">
              <a:buNone/>
            </a:pPr>
            <a:r>
              <a:rPr lang="en-US" sz="1000" dirty="0">
                <a:solidFill>
                  <a:srgbClr val="7CE7FF"/>
                </a:solidFill>
                <a:latin typeface="Consolas" pitchFamily="34" charset="0"/>
                <a:ea typeface="Consolas" pitchFamily="34" charset="-122"/>
                <a:cs typeface="Consolas" pitchFamily="34" charset="-120"/>
              </a:rPr>
              <a:t>   AI research lab — products, insights, capital.</a:t>
            </a:r>
            <a:endParaRPr lang="en-US" sz="1800" dirty="0"/>
          </a:p>
        </p:txBody>
      </p:sp>
      <p:sp>
        <p:nvSpPr>
          <p:cNvPr id="12" name="Text 10"/>
          <p:cNvSpPr/>
          <p:nvPr/>
        </p:nvSpPr>
        <p:spPr>
          <a:xfrm>
            <a:off x="731520" y="3429000"/>
            <a:ext cx="4937760" cy="640080"/>
          </a:xfrm>
          <a:prstGeom prst="rect">
            <a:avLst/>
          </a:prstGeom>
          <a:noFill/>
          <a:ln/>
        </p:spPr>
        <p:txBody>
          <a:bodyPr wrap="square" rtlCol="0" anchor="ctr"/>
          <a:lstStyle/>
          <a:p>
            <a:pPr indent="0" marL="0">
              <a:lnSpc>
                <a:spcPct val="130000"/>
              </a:lnSpc>
              <a:buNone/>
            </a:pPr>
            <a:r>
              <a:rPr lang="en-US" sz="950" dirty="0">
                <a:solidFill>
                  <a:srgbClr val="A4ACBD"/>
                </a:solidFill>
                <a:latin typeface="Calibri" pitchFamily="34" charset="0"/>
                <a:ea typeface="Calibri" pitchFamily="34" charset="-122"/>
                <a:cs typeface="Calibri" pitchFamily="34" charset="-120"/>
              </a:rPr>
              <a:t>Marketing and product surface for ElevexAI's portfolio. Headless content via Sanity, edge-rendered with Next.js, deployed on Vercel with preview branches per feature.</a:t>
            </a:r>
            <a:endParaRPr lang="en-US" sz="950" dirty="0"/>
          </a:p>
        </p:txBody>
      </p:sp>
      <p:sp>
        <p:nvSpPr>
          <p:cNvPr id="13" name="Text 11"/>
          <p:cNvSpPr/>
          <p:nvPr/>
        </p:nvSpPr>
        <p:spPr>
          <a:xfrm>
            <a:off x="731520" y="4069080"/>
            <a:ext cx="4937760" cy="274320"/>
          </a:xfrm>
          <a:prstGeom prst="rect">
            <a:avLst/>
          </a:prstGeom>
          <a:noFill/>
          <a:ln/>
        </p:spPr>
        <p:txBody>
          <a:bodyPr wrap="square" rtlCol="0" anchor="ctr"/>
          <a:lstStyle/>
          <a:p>
            <a:pPr indent="0" marL="0">
              <a:buNone/>
            </a:pPr>
            <a:r>
              <a:rPr lang="en-US" sz="850" spc="100" kern="0" dirty="0">
                <a:solidFill>
                  <a:srgbClr val="6B7388"/>
                </a:solidFill>
                <a:latin typeface="Consolas" pitchFamily="34" charset="0"/>
                <a:ea typeface="Consolas" pitchFamily="34" charset="-122"/>
                <a:cs typeface="Consolas" pitchFamily="34" charset="-120"/>
              </a:rPr>
              <a:t>Next.js   ·   Sanity CMS   ·   Vercel   ·   TypeScript</a:t>
            </a:r>
            <a:endParaRPr lang="en-US" sz="850" dirty="0"/>
          </a:p>
        </p:txBody>
      </p:sp>
      <p:sp>
        <p:nvSpPr>
          <p:cNvPr id="14" name="Text 12">
            <a:hlinkClick r:id="rId1" tooltip="ElevexAI"/>
          </p:cNvPr>
          <p:cNvSpPr/>
          <p:nvPr/>
        </p:nvSpPr>
        <p:spPr>
          <a:xfrm>
            <a:off x="4023360" y="4069080"/>
            <a:ext cx="1645920" cy="274320"/>
          </a:xfrm>
          <a:prstGeom prst="rect">
            <a:avLst/>
          </a:prstGeom>
          <a:noFill/>
          <a:ln/>
        </p:spPr>
        <p:txBody>
          <a:bodyPr wrap="square" rtlCol="0" anchor="ctr"/>
          <a:lstStyle/>
          <a:p>
            <a:pPr algn="r" indent="0" marL="0">
              <a:buNone/>
            </a:pPr>
            <a:r>
              <a:rPr lang="en-US" sz="850" u="sng" spc="100" kern="0" dirty="0">
                <a:solidFill>
                  <a:srgbClr val="7CE7FF"/>
                </a:solidFill>
                <a:latin typeface="Consolas" pitchFamily="34" charset="0"/>
                <a:ea typeface="Consolas" pitchFamily="34" charset="-122"/>
                <a:cs typeface="Consolas" pitchFamily="34" charset="-120"/>
                <a:hlinkClick r:id="rId1" invalidUrl="" action="" tgtFrame="" tooltip="ElevexAI" history="1" highlightClick="0" endSnd="0">
                  <a:extLst>
                    <a:ext uri="{A12FA001-AC4F-418D-AE19-62706E023703}">
                      <ahyp:hlinkClr xmlns:ahyp="http://schemas.microsoft.com/office/drawing/2018/hyperlinkcolor" val="tx"/>
                    </a:ext>
                  </a:extLst>
                </a:hlinkClick>
              </a:rPr>
              <a:t>elevexai.systems</a:t>
            </a:r>
            <a:endParaRPr lang="en-US" sz="850" dirty="0"/>
          </a:p>
        </p:txBody>
      </p:sp>
      <p:sp>
        <p:nvSpPr>
          <p:cNvPr id="15" name="Shape 13"/>
          <p:cNvSpPr/>
          <p:nvPr/>
        </p:nvSpPr>
        <p:spPr>
          <a:xfrm>
            <a:off x="6355080" y="2468880"/>
            <a:ext cx="5303520" cy="1965960"/>
          </a:xfrm>
          <a:prstGeom prst="rect">
            <a:avLst/>
          </a:prstGeom>
          <a:solidFill>
            <a:srgbClr val="12161F"/>
          </a:solidFill>
          <a:ln w="6350">
            <a:solidFill>
              <a:srgbClr val="23293A"/>
            </a:solidFill>
            <a:prstDash val="solid"/>
          </a:ln>
        </p:spPr>
      </p:sp>
      <p:sp>
        <p:nvSpPr>
          <p:cNvPr id="16" name="Shape 14"/>
          <p:cNvSpPr/>
          <p:nvPr/>
        </p:nvSpPr>
        <p:spPr>
          <a:xfrm>
            <a:off x="6355080" y="2468880"/>
            <a:ext cx="5303520" cy="54864"/>
          </a:xfrm>
          <a:prstGeom prst="rect">
            <a:avLst/>
          </a:prstGeom>
          <a:solidFill>
            <a:srgbClr val="C6FF3D"/>
          </a:solidFill>
          <a:ln/>
        </p:spPr>
      </p:sp>
      <p:sp>
        <p:nvSpPr>
          <p:cNvPr id="17" name="Text 15"/>
          <p:cNvSpPr/>
          <p:nvPr/>
        </p:nvSpPr>
        <p:spPr>
          <a:xfrm>
            <a:off x="6537960" y="2633472"/>
            <a:ext cx="1463040" cy="274320"/>
          </a:xfrm>
          <a:prstGeom prst="rect">
            <a:avLst/>
          </a:prstGeom>
          <a:noFill/>
          <a:ln/>
        </p:spPr>
        <p:txBody>
          <a:bodyPr wrap="square" rtlCol="0" anchor="ctr"/>
          <a:lstStyle/>
          <a:p>
            <a:pPr indent="0" marL="0">
              <a:buNone/>
            </a:pPr>
            <a:r>
              <a:rPr lang="en-US" sz="900" b="1" spc="300" kern="0" dirty="0">
                <a:solidFill>
                  <a:srgbClr val="C6FF3D"/>
                </a:solidFill>
                <a:latin typeface="Consolas" pitchFamily="34" charset="0"/>
                <a:ea typeface="Consolas" pitchFamily="34" charset="-122"/>
                <a:cs typeface="Consolas" pitchFamily="34" charset="-120"/>
              </a:rPr>
              <a:t>LIVE</a:t>
            </a:r>
            <a:endParaRPr lang="en-US" sz="900" dirty="0"/>
          </a:p>
        </p:txBody>
      </p:sp>
      <p:sp>
        <p:nvSpPr>
          <p:cNvPr id="18" name="Text 16"/>
          <p:cNvSpPr/>
          <p:nvPr/>
        </p:nvSpPr>
        <p:spPr>
          <a:xfrm>
            <a:off x="9921240" y="2633472"/>
            <a:ext cx="155448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iOS · ANDROID</a:t>
            </a:r>
            <a:endParaRPr lang="en-US" sz="900" dirty="0"/>
          </a:p>
        </p:txBody>
      </p:sp>
      <p:sp>
        <p:nvSpPr>
          <p:cNvPr id="19" name="Text 17"/>
          <p:cNvSpPr/>
          <p:nvPr/>
        </p:nvSpPr>
        <p:spPr>
          <a:xfrm>
            <a:off x="6537960" y="2971800"/>
            <a:ext cx="4937760" cy="45720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SoftSec Intel</a:t>
            </a:r>
            <a:pPr indent="0" marL="0">
              <a:buNone/>
            </a:pPr>
            <a:r>
              <a:rPr lang="en-US" sz="1000" dirty="0">
                <a:solidFill>
                  <a:srgbClr val="C6FF3D"/>
                </a:solidFill>
                <a:latin typeface="Consolas" pitchFamily="34" charset="0"/>
                <a:ea typeface="Consolas" pitchFamily="34" charset="-122"/>
                <a:cs typeface="Consolas" pitchFamily="34" charset="-120"/>
              </a:rPr>
              <a:t>   RAG-powered software-security companion.</a:t>
            </a:r>
            <a:endParaRPr lang="en-US" sz="1800" dirty="0"/>
          </a:p>
        </p:txBody>
      </p:sp>
      <p:sp>
        <p:nvSpPr>
          <p:cNvPr id="20" name="Text 18"/>
          <p:cNvSpPr/>
          <p:nvPr/>
        </p:nvSpPr>
        <p:spPr>
          <a:xfrm>
            <a:off x="6537960" y="3429000"/>
            <a:ext cx="4937760" cy="640080"/>
          </a:xfrm>
          <a:prstGeom prst="rect">
            <a:avLst/>
          </a:prstGeom>
          <a:noFill/>
          <a:ln/>
        </p:spPr>
        <p:txBody>
          <a:bodyPr wrap="square" rtlCol="0" anchor="ctr"/>
          <a:lstStyle/>
          <a:p>
            <a:pPr indent="0" marL="0">
              <a:lnSpc>
                <a:spcPct val="130000"/>
              </a:lnSpc>
              <a:buNone/>
            </a:pPr>
            <a:r>
              <a:rPr lang="en-US" sz="950" dirty="0">
                <a:solidFill>
                  <a:srgbClr val="A4ACBD"/>
                </a:solidFill>
                <a:latin typeface="Calibri" pitchFamily="34" charset="0"/>
                <a:ea typeface="Calibri" pitchFamily="34" charset="-122"/>
                <a:cs typeface="Calibri" pitchFamily="34" charset="-120"/>
              </a:rPr>
              <a:t>Mobile companion for security teams — multi-source RAG over CVE &amp; advisory feeds combining vector, graph, and relational stores. Pipelines orchestrated with Prefect; LLM query layer for natural-language threat lookup.</a:t>
            </a:r>
            <a:endParaRPr lang="en-US" sz="950" dirty="0"/>
          </a:p>
        </p:txBody>
      </p:sp>
      <p:sp>
        <p:nvSpPr>
          <p:cNvPr id="21" name="Text 19"/>
          <p:cNvSpPr/>
          <p:nvPr/>
        </p:nvSpPr>
        <p:spPr>
          <a:xfrm>
            <a:off x="6537960" y="4069080"/>
            <a:ext cx="4937760" cy="274320"/>
          </a:xfrm>
          <a:prstGeom prst="rect">
            <a:avLst/>
          </a:prstGeom>
          <a:noFill/>
          <a:ln/>
        </p:spPr>
        <p:txBody>
          <a:bodyPr wrap="square" rtlCol="0" anchor="ctr"/>
          <a:lstStyle/>
          <a:p>
            <a:pPr indent="0" marL="0">
              <a:buNone/>
            </a:pPr>
            <a:r>
              <a:rPr lang="en-US" sz="850" spc="100" kern="0" dirty="0">
                <a:solidFill>
                  <a:srgbClr val="6B7388"/>
                </a:solidFill>
                <a:latin typeface="Consolas" pitchFamily="34" charset="0"/>
                <a:ea typeface="Consolas" pitchFamily="34" charset="-122"/>
                <a:cs typeface="Consolas" pitchFamily="34" charset="-120"/>
              </a:rPr>
              <a:t>LLM RAG   ·   Prefect   ·   PostgreSQL   ·   Vector DB   ·   Graph DB   ·   iOS   ·   Android</a:t>
            </a:r>
            <a:endParaRPr lang="en-US" sz="850" dirty="0"/>
          </a:p>
        </p:txBody>
      </p:sp>
      <p:sp>
        <p:nvSpPr>
          <p:cNvPr id="22" name="Text 20">
            <a:hlinkClick r:id="rId2" tooltip="SoftSec Intel"/>
          </p:cNvPr>
          <p:cNvSpPr/>
          <p:nvPr/>
        </p:nvSpPr>
        <p:spPr>
          <a:xfrm>
            <a:off x="9829800" y="4069080"/>
            <a:ext cx="1645920" cy="274320"/>
          </a:xfrm>
          <a:prstGeom prst="rect">
            <a:avLst/>
          </a:prstGeom>
          <a:noFill/>
          <a:ln/>
        </p:spPr>
        <p:txBody>
          <a:bodyPr wrap="square" rtlCol="0" anchor="ctr"/>
          <a:lstStyle/>
          <a:p>
            <a:pPr algn="r" indent="0" marL="0">
              <a:buNone/>
            </a:pPr>
            <a:r>
              <a:rPr lang="en-US" sz="850" u="sng" spc="100" kern="0" dirty="0">
                <a:solidFill>
                  <a:srgbClr val="C6FF3D"/>
                </a:solidFill>
                <a:latin typeface="Consolas" pitchFamily="34" charset="0"/>
                <a:ea typeface="Consolas" pitchFamily="34" charset="-122"/>
                <a:cs typeface="Consolas" pitchFamily="34" charset="-120"/>
                <a:hlinkClick r:id="rId2" invalidUrl="" action="" tgtFrame="" tooltip="SoftSec Intel" history="1" highlightClick="0" endSnd="0">
                  <a:extLst>
                    <a:ext uri="{A12FA001-AC4F-418D-AE19-62706E023703}">
                      <ahyp:hlinkClr xmlns:ahyp="http://schemas.microsoft.com/office/drawing/2018/hyperlinkcolor" val="tx"/>
                    </a:ext>
                  </a:extLst>
                </a:hlinkClick>
              </a:rPr>
              <a:t>softsec-intel · iOS + Android</a:t>
            </a:r>
            <a:endParaRPr lang="en-US" sz="850" dirty="0"/>
          </a:p>
        </p:txBody>
      </p:sp>
      <p:sp>
        <p:nvSpPr>
          <p:cNvPr id="23" name="Shape 21"/>
          <p:cNvSpPr/>
          <p:nvPr/>
        </p:nvSpPr>
        <p:spPr>
          <a:xfrm>
            <a:off x="548640" y="4617720"/>
            <a:ext cx="5303520" cy="1965960"/>
          </a:xfrm>
          <a:prstGeom prst="rect">
            <a:avLst/>
          </a:prstGeom>
          <a:solidFill>
            <a:srgbClr val="12161F"/>
          </a:solidFill>
          <a:ln w="6350">
            <a:solidFill>
              <a:srgbClr val="23293A"/>
            </a:solidFill>
            <a:prstDash val="solid"/>
          </a:ln>
        </p:spPr>
      </p:sp>
      <p:sp>
        <p:nvSpPr>
          <p:cNvPr id="24" name="Shape 22"/>
          <p:cNvSpPr/>
          <p:nvPr/>
        </p:nvSpPr>
        <p:spPr>
          <a:xfrm>
            <a:off x="548640" y="4617720"/>
            <a:ext cx="5303520" cy="54864"/>
          </a:xfrm>
          <a:prstGeom prst="rect">
            <a:avLst/>
          </a:prstGeom>
          <a:solidFill>
            <a:srgbClr val="FFB02E"/>
          </a:solidFill>
          <a:ln/>
        </p:spPr>
      </p:sp>
      <p:sp>
        <p:nvSpPr>
          <p:cNvPr id="25" name="Text 23"/>
          <p:cNvSpPr/>
          <p:nvPr/>
        </p:nvSpPr>
        <p:spPr>
          <a:xfrm>
            <a:off x="731520" y="4782312"/>
            <a:ext cx="1463040" cy="274320"/>
          </a:xfrm>
          <a:prstGeom prst="rect">
            <a:avLst/>
          </a:prstGeom>
          <a:noFill/>
          <a:ln/>
        </p:spPr>
        <p:txBody>
          <a:bodyPr wrap="square" rtlCol="0" anchor="ctr"/>
          <a:lstStyle/>
          <a:p>
            <a:pPr indent="0" marL="0">
              <a:buNone/>
            </a:pPr>
            <a:r>
              <a:rPr lang="en-US" sz="900" b="1" spc="300" kern="0" dirty="0">
                <a:solidFill>
                  <a:srgbClr val="FFB02E"/>
                </a:solidFill>
                <a:latin typeface="Consolas" pitchFamily="34" charset="0"/>
                <a:ea typeface="Consolas" pitchFamily="34" charset="-122"/>
                <a:cs typeface="Consolas" pitchFamily="34" charset="-120"/>
              </a:rPr>
              <a:t>LIVE</a:t>
            </a:r>
            <a:endParaRPr lang="en-US" sz="900" dirty="0"/>
          </a:p>
        </p:txBody>
      </p:sp>
      <p:sp>
        <p:nvSpPr>
          <p:cNvPr id="26" name="Text 24"/>
          <p:cNvSpPr/>
          <p:nvPr/>
        </p:nvSpPr>
        <p:spPr>
          <a:xfrm>
            <a:off x="4114800" y="4782312"/>
            <a:ext cx="155448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WEB · LIVE</a:t>
            </a:r>
            <a:endParaRPr lang="en-US" sz="900" dirty="0"/>
          </a:p>
        </p:txBody>
      </p:sp>
      <p:sp>
        <p:nvSpPr>
          <p:cNvPr id="27" name="Text 25"/>
          <p:cNvSpPr/>
          <p:nvPr/>
        </p:nvSpPr>
        <p:spPr>
          <a:xfrm>
            <a:off x="731520" y="5120640"/>
            <a:ext cx="4937760" cy="45720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AIDFest</a:t>
            </a:r>
            <a:pPr indent="0" marL="0">
              <a:buNone/>
            </a:pPr>
            <a:r>
              <a:rPr lang="en-US" sz="1000" dirty="0">
                <a:solidFill>
                  <a:srgbClr val="FFB02E"/>
                </a:solidFill>
                <a:latin typeface="Consolas" pitchFamily="34" charset="0"/>
                <a:ea typeface="Consolas" pitchFamily="34" charset="-122"/>
                <a:cs typeface="Consolas" pitchFamily="34" charset="-120"/>
              </a:rPr>
              <a:t>   Adelaide AI · Data · Festival.</a:t>
            </a:r>
            <a:endParaRPr lang="en-US" sz="1800" dirty="0"/>
          </a:p>
        </p:txBody>
      </p:sp>
      <p:sp>
        <p:nvSpPr>
          <p:cNvPr id="28" name="Text 26"/>
          <p:cNvSpPr/>
          <p:nvPr/>
        </p:nvSpPr>
        <p:spPr>
          <a:xfrm>
            <a:off x="731520" y="5577840"/>
            <a:ext cx="4937760" cy="640080"/>
          </a:xfrm>
          <a:prstGeom prst="rect">
            <a:avLst/>
          </a:prstGeom>
          <a:noFill/>
          <a:ln/>
        </p:spPr>
        <p:txBody>
          <a:bodyPr wrap="square" rtlCol="0" anchor="ctr"/>
          <a:lstStyle/>
          <a:p>
            <a:pPr indent="0" marL="0">
              <a:lnSpc>
                <a:spcPct val="130000"/>
              </a:lnSpc>
              <a:buNone/>
            </a:pPr>
            <a:r>
              <a:rPr lang="en-US" sz="950" dirty="0">
                <a:solidFill>
                  <a:srgbClr val="A4ACBD"/>
                </a:solidFill>
                <a:latin typeface="Calibri" pitchFamily="34" charset="0"/>
                <a:ea typeface="Calibri" pitchFamily="34" charset="-122"/>
                <a:cs typeface="Calibri" pitchFamily="34" charset="-120"/>
              </a:rPr>
              <a:t>Festival platform for Adelaide's AI and data community — event programming, speaker showcase, and registration. Built for fast iteration during a live programming cycle.</a:t>
            </a:r>
            <a:endParaRPr lang="en-US" sz="950" dirty="0"/>
          </a:p>
        </p:txBody>
      </p:sp>
      <p:sp>
        <p:nvSpPr>
          <p:cNvPr id="29" name="Text 27"/>
          <p:cNvSpPr/>
          <p:nvPr/>
        </p:nvSpPr>
        <p:spPr>
          <a:xfrm>
            <a:off x="731520" y="6217920"/>
            <a:ext cx="4937760" cy="274320"/>
          </a:xfrm>
          <a:prstGeom prst="rect">
            <a:avLst/>
          </a:prstGeom>
          <a:noFill/>
          <a:ln/>
        </p:spPr>
        <p:txBody>
          <a:bodyPr wrap="square" rtlCol="0" anchor="ctr"/>
          <a:lstStyle/>
          <a:p>
            <a:pPr indent="0" marL="0">
              <a:buNone/>
            </a:pPr>
            <a:r>
              <a:rPr lang="en-US" sz="850" spc="100" kern="0" dirty="0">
                <a:solidFill>
                  <a:srgbClr val="6B7388"/>
                </a:solidFill>
                <a:latin typeface="Consolas" pitchFamily="34" charset="0"/>
                <a:ea typeface="Consolas" pitchFamily="34" charset="-122"/>
                <a:cs typeface="Consolas" pitchFamily="34" charset="-120"/>
              </a:rPr>
              <a:t>Next.js   ·   Vercel   ·   TypeScript</a:t>
            </a:r>
            <a:endParaRPr lang="en-US" sz="850" dirty="0"/>
          </a:p>
        </p:txBody>
      </p:sp>
      <p:sp>
        <p:nvSpPr>
          <p:cNvPr id="30" name="Text 28">
            <a:hlinkClick r:id="rId3" tooltip="AIDFest"/>
          </p:cNvPr>
          <p:cNvSpPr/>
          <p:nvPr/>
        </p:nvSpPr>
        <p:spPr>
          <a:xfrm>
            <a:off x="4023360" y="6217920"/>
            <a:ext cx="1645920" cy="274320"/>
          </a:xfrm>
          <a:prstGeom prst="rect">
            <a:avLst/>
          </a:prstGeom>
          <a:noFill/>
          <a:ln/>
        </p:spPr>
        <p:txBody>
          <a:bodyPr wrap="square" rtlCol="0" anchor="ctr"/>
          <a:lstStyle/>
          <a:p>
            <a:pPr algn="r" indent="0" marL="0">
              <a:buNone/>
            </a:pPr>
            <a:r>
              <a:rPr lang="en-US" sz="850" u="sng" spc="100" kern="0" dirty="0">
                <a:solidFill>
                  <a:srgbClr val="FFB02E"/>
                </a:solidFill>
                <a:latin typeface="Consolas" pitchFamily="34" charset="0"/>
                <a:ea typeface="Consolas" pitchFamily="34" charset="-122"/>
                <a:cs typeface="Consolas" pitchFamily="34" charset="-120"/>
                <a:hlinkClick r:id="rId3" invalidUrl="" action="" tgtFrame="" tooltip="AIDFest" history="1" highlightClick="0" endSnd="0">
                  <a:extLst>
                    <a:ext uri="{A12FA001-AC4F-418D-AE19-62706E023703}">
                      <ahyp:hlinkClr xmlns:ahyp="http://schemas.microsoft.com/office/drawing/2018/hyperlinkcolor" val="tx"/>
                    </a:ext>
                  </a:extLst>
                </a:hlinkClick>
              </a:rPr>
              <a:t>aidfest.tech</a:t>
            </a:r>
            <a:endParaRPr lang="en-US" sz="850" dirty="0"/>
          </a:p>
        </p:txBody>
      </p:sp>
      <p:sp>
        <p:nvSpPr>
          <p:cNvPr id="31" name="Shape 29"/>
          <p:cNvSpPr/>
          <p:nvPr/>
        </p:nvSpPr>
        <p:spPr>
          <a:xfrm>
            <a:off x="6355080" y="4617720"/>
            <a:ext cx="5303520" cy="1965960"/>
          </a:xfrm>
          <a:prstGeom prst="rect">
            <a:avLst/>
          </a:prstGeom>
          <a:solidFill>
            <a:srgbClr val="12161F"/>
          </a:solidFill>
          <a:ln w="6350">
            <a:solidFill>
              <a:srgbClr val="23293A"/>
            </a:solidFill>
            <a:prstDash val="solid"/>
          </a:ln>
        </p:spPr>
      </p:sp>
      <p:sp>
        <p:nvSpPr>
          <p:cNvPr id="32" name="Shape 30"/>
          <p:cNvSpPr/>
          <p:nvPr/>
        </p:nvSpPr>
        <p:spPr>
          <a:xfrm>
            <a:off x="6355080" y="4617720"/>
            <a:ext cx="5303520" cy="54864"/>
          </a:xfrm>
          <a:prstGeom prst="rect">
            <a:avLst/>
          </a:prstGeom>
          <a:solidFill>
            <a:srgbClr val="B482FF"/>
          </a:solidFill>
          <a:ln/>
        </p:spPr>
      </p:sp>
      <p:sp>
        <p:nvSpPr>
          <p:cNvPr id="33" name="Text 31"/>
          <p:cNvSpPr/>
          <p:nvPr/>
        </p:nvSpPr>
        <p:spPr>
          <a:xfrm>
            <a:off x="6537960" y="4782312"/>
            <a:ext cx="1463040" cy="274320"/>
          </a:xfrm>
          <a:prstGeom prst="rect">
            <a:avLst/>
          </a:prstGeom>
          <a:noFill/>
          <a:ln/>
        </p:spPr>
        <p:txBody>
          <a:bodyPr wrap="square" rtlCol="0" anchor="ctr"/>
          <a:lstStyle/>
          <a:p>
            <a:pPr indent="0" marL="0">
              <a:buNone/>
            </a:pPr>
            <a:r>
              <a:rPr lang="en-US" sz="900" b="1" spc="300" kern="0" dirty="0">
                <a:solidFill>
                  <a:srgbClr val="B482FF"/>
                </a:solidFill>
                <a:latin typeface="Consolas" pitchFamily="34" charset="0"/>
                <a:ea typeface="Consolas" pitchFamily="34" charset="-122"/>
                <a:cs typeface="Consolas" pitchFamily="34" charset="-120"/>
              </a:rPr>
              <a:t>INTERNAL · CREST</a:t>
            </a:r>
            <a:endParaRPr lang="en-US" sz="900" dirty="0"/>
          </a:p>
        </p:txBody>
      </p:sp>
      <p:sp>
        <p:nvSpPr>
          <p:cNvPr id="34" name="Text 32"/>
          <p:cNvSpPr/>
          <p:nvPr/>
        </p:nvSpPr>
        <p:spPr>
          <a:xfrm>
            <a:off x="9921240" y="4782312"/>
            <a:ext cx="155448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INTERNAL · CREST</a:t>
            </a:r>
            <a:endParaRPr lang="en-US" sz="900" dirty="0"/>
          </a:p>
        </p:txBody>
      </p:sp>
      <p:sp>
        <p:nvSpPr>
          <p:cNvPr id="35" name="Text 33"/>
          <p:cNvSpPr/>
          <p:nvPr/>
        </p:nvSpPr>
        <p:spPr>
          <a:xfrm>
            <a:off x="6537960" y="5120640"/>
            <a:ext cx="4937760" cy="45720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DEP &amp; VIP</a:t>
            </a:r>
            <a:pPr indent="0" marL="0">
              <a:buNone/>
            </a:pPr>
            <a:r>
              <a:rPr lang="en-US" sz="1000" dirty="0">
                <a:solidFill>
                  <a:srgbClr val="B482FF"/>
                </a:solidFill>
                <a:latin typeface="Consolas" pitchFamily="34" charset="0"/>
                <a:ea typeface="Consolas" pitchFamily="34" charset="-122"/>
                <a:cs typeface="Consolas" pitchFamily="34" charset="-120"/>
              </a:rPr>
              <a:t>   Data-science PaaS at CREST.</a:t>
            </a:r>
            <a:endParaRPr lang="en-US" sz="1800" dirty="0"/>
          </a:p>
        </p:txBody>
      </p:sp>
      <p:sp>
        <p:nvSpPr>
          <p:cNvPr id="36" name="Text 34"/>
          <p:cNvSpPr/>
          <p:nvPr/>
        </p:nvSpPr>
        <p:spPr>
          <a:xfrm>
            <a:off x="6537960" y="5577840"/>
            <a:ext cx="4937760" cy="640080"/>
          </a:xfrm>
          <a:prstGeom prst="rect">
            <a:avLst/>
          </a:prstGeom>
          <a:noFill/>
          <a:ln/>
        </p:spPr>
        <p:txBody>
          <a:bodyPr wrap="square" rtlCol="0" anchor="ctr"/>
          <a:lstStyle/>
          <a:p>
            <a:pPr indent="0" marL="0">
              <a:lnSpc>
                <a:spcPct val="130000"/>
              </a:lnSpc>
              <a:buNone/>
            </a:pPr>
            <a:r>
              <a:rPr lang="en-US" sz="950" dirty="0">
                <a:solidFill>
                  <a:srgbClr val="A4ACBD"/>
                </a:solidFill>
                <a:latin typeface="Calibri" pitchFamily="34" charset="0"/>
                <a:ea typeface="Calibri" pitchFamily="34" charset="-122"/>
                <a:cs typeface="Calibri" pitchFamily="34" charset="-120"/>
              </a:rPr>
              <a:t>Internal Platform-as-a-Service at the University of Adelaide CREST. Gives data scientists a managed environment for everyday research work — no infrastructure to provision, no env to wrangle. Featured on ElevexAI's products page.</a:t>
            </a:r>
            <a:endParaRPr lang="en-US" sz="950" dirty="0"/>
          </a:p>
        </p:txBody>
      </p:sp>
      <p:sp>
        <p:nvSpPr>
          <p:cNvPr id="37" name="Text 35"/>
          <p:cNvSpPr/>
          <p:nvPr/>
        </p:nvSpPr>
        <p:spPr>
          <a:xfrm>
            <a:off x="6537960" y="6217920"/>
            <a:ext cx="4937760" cy="274320"/>
          </a:xfrm>
          <a:prstGeom prst="rect">
            <a:avLst/>
          </a:prstGeom>
          <a:noFill/>
          <a:ln/>
        </p:spPr>
        <p:txBody>
          <a:bodyPr wrap="square" rtlCol="0" anchor="ctr"/>
          <a:lstStyle/>
          <a:p>
            <a:pPr indent="0" marL="0">
              <a:buNone/>
            </a:pPr>
            <a:r>
              <a:rPr lang="en-US" sz="850" spc="100" kern="0" dirty="0">
                <a:solidFill>
                  <a:srgbClr val="6B7388"/>
                </a:solidFill>
                <a:latin typeface="Consolas" pitchFamily="34" charset="0"/>
                <a:ea typeface="Consolas" pitchFamily="34" charset="-122"/>
                <a:cs typeface="Consolas" pitchFamily="34" charset="-120"/>
              </a:rPr>
              <a:t>Platform-as-a-Service   ·   Data Science   ·   Internal   ·   CREST · UofA</a:t>
            </a:r>
            <a:endParaRPr lang="en-US" sz="850" dirty="0"/>
          </a:p>
        </p:txBody>
      </p:sp>
      <p:sp>
        <p:nvSpPr>
          <p:cNvPr id="38" name="Text 36">
            <a:hlinkClick r:id="rId4" tooltip="DEP &amp; VIP"/>
          </p:cNvPr>
          <p:cNvSpPr/>
          <p:nvPr/>
        </p:nvSpPr>
        <p:spPr>
          <a:xfrm>
            <a:off x="9829800" y="6217920"/>
            <a:ext cx="1645920" cy="274320"/>
          </a:xfrm>
          <a:prstGeom prst="rect">
            <a:avLst/>
          </a:prstGeom>
          <a:noFill/>
          <a:ln/>
        </p:spPr>
        <p:txBody>
          <a:bodyPr wrap="square" rtlCol="0" anchor="ctr"/>
          <a:lstStyle/>
          <a:p>
            <a:pPr algn="r" indent="0" marL="0">
              <a:buNone/>
            </a:pPr>
            <a:r>
              <a:rPr lang="en-US" sz="850" u="sng" spc="100" kern="0" dirty="0">
                <a:solidFill>
                  <a:srgbClr val="B482FF"/>
                </a:solidFill>
                <a:latin typeface="Consolas" pitchFamily="34" charset="0"/>
                <a:ea typeface="Consolas" pitchFamily="34" charset="-122"/>
                <a:cs typeface="Consolas" pitchFamily="34" charset="-120"/>
                <a:hlinkClick r:id="rId4" invalidUrl="" action="" tgtFrame="" tooltip="DEP &amp; VIP" history="1" highlightClick="0" endSnd="0">
                  <a:extLst>
                    <a:ext uri="{A12FA001-AC4F-418D-AE19-62706E023703}">
                      <ahyp:hlinkClr xmlns:ahyp="http://schemas.microsoft.com/office/drawing/2018/hyperlinkcolor" val="tx"/>
                    </a:ext>
                  </a:extLst>
                </a:hlinkClick>
              </a:rPr>
              <a:t>elevexai.systems/products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 04  </a:t>
            </a:r>
            <a:pPr indent="0" marL="0">
              <a:buNone/>
            </a:pPr>
            <a:r>
              <a:rPr lang="en-US" sz="1100" spc="400" kern="0" dirty="0">
                <a:solidFill>
                  <a:srgbClr val="A4ACBD"/>
                </a:solidFill>
                <a:latin typeface="Consolas" pitchFamily="34" charset="0"/>
                <a:ea typeface="Consolas" pitchFamily="34" charset="-122"/>
                <a:cs typeface="Consolas" pitchFamily="34" charset="-120"/>
              </a:rPr>
              <a:t>EXPERIENCE</a:t>
            </a:r>
            <a:endParaRPr lang="en-US" sz="1100" dirty="0"/>
          </a:p>
        </p:txBody>
      </p:sp>
      <p:sp>
        <p:nvSpPr>
          <p:cNvPr id="6" name="Text 4"/>
          <p:cNvSpPr/>
          <p:nvPr/>
        </p:nvSpPr>
        <p:spPr>
          <a:xfrm>
            <a:off x="548640" y="1005840"/>
            <a:ext cx="10972800" cy="731520"/>
          </a:xfrm>
          <a:prstGeom prst="rect">
            <a:avLst/>
          </a:prstGeom>
          <a:noFill/>
          <a:ln/>
        </p:spPr>
        <p:txBody>
          <a:bodyPr wrap="square" rtlCol="0" anchor="ctr"/>
          <a:lstStyle/>
          <a:p>
            <a:pPr indent="0" marL="0">
              <a:buNone/>
            </a:pPr>
            <a:r>
              <a:rPr lang="en-US" sz="3600" b="1" spc="-100" kern="0" dirty="0">
                <a:solidFill>
                  <a:srgbClr val="EDF1F7"/>
                </a:solidFill>
                <a:latin typeface="Calibri" pitchFamily="34" charset="0"/>
                <a:ea typeface="Calibri" pitchFamily="34" charset="-122"/>
                <a:cs typeface="Calibri" pitchFamily="34" charset="-120"/>
              </a:rPr>
              <a:t>Where I've shipped.</a:t>
            </a:r>
            <a:endParaRPr lang="en-US" sz="3600" dirty="0"/>
          </a:p>
        </p:txBody>
      </p:sp>
      <p:sp>
        <p:nvSpPr>
          <p:cNvPr id="7" name="Shape 5"/>
          <p:cNvSpPr/>
          <p:nvPr/>
        </p:nvSpPr>
        <p:spPr>
          <a:xfrm>
            <a:off x="548640" y="2103120"/>
            <a:ext cx="5532120" cy="4206240"/>
          </a:xfrm>
          <a:prstGeom prst="rect">
            <a:avLst/>
          </a:prstGeom>
          <a:solidFill>
            <a:srgbClr val="12161F"/>
          </a:solidFill>
          <a:ln w="6350">
            <a:solidFill>
              <a:srgbClr val="23293A"/>
            </a:solidFill>
            <a:prstDash val="solid"/>
          </a:ln>
        </p:spPr>
      </p:sp>
      <p:sp>
        <p:nvSpPr>
          <p:cNvPr id="8" name="Text 6"/>
          <p:cNvSpPr/>
          <p:nvPr/>
        </p:nvSpPr>
        <p:spPr>
          <a:xfrm>
            <a:off x="822960" y="2286000"/>
            <a:ext cx="4983480" cy="274320"/>
          </a:xfrm>
          <a:prstGeom prst="rect">
            <a:avLst/>
          </a:prstGeom>
          <a:noFill/>
          <a:ln/>
        </p:spPr>
        <p:txBody>
          <a:bodyPr wrap="square" rtlCol="0" anchor="ctr"/>
          <a:lstStyle/>
          <a:p>
            <a:pPr indent="0" marL="0">
              <a:buNone/>
            </a:pPr>
            <a:r>
              <a:rPr lang="en-US" sz="900" spc="300" kern="0" dirty="0">
                <a:solidFill>
                  <a:srgbClr val="6B7388"/>
                </a:solidFill>
                <a:latin typeface="Consolas" pitchFamily="34" charset="0"/>
                <a:ea typeface="Consolas" pitchFamily="34" charset="-122"/>
                <a:cs typeface="Consolas" pitchFamily="34" charset="-120"/>
              </a:rPr>
              <a:t>DEC 2023 – PRESENT</a:t>
            </a:r>
            <a:endParaRPr lang="en-US" sz="900" dirty="0"/>
          </a:p>
        </p:txBody>
      </p:sp>
      <p:sp>
        <p:nvSpPr>
          <p:cNvPr id="9" name="Text 7"/>
          <p:cNvSpPr/>
          <p:nvPr/>
        </p:nvSpPr>
        <p:spPr>
          <a:xfrm>
            <a:off x="822960" y="2606040"/>
            <a:ext cx="4983480" cy="41148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Software Developer</a:t>
            </a:r>
            <a:endParaRPr lang="en-US" sz="1800" dirty="0"/>
          </a:p>
        </p:txBody>
      </p:sp>
      <p:sp>
        <p:nvSpPr>
          <p:cNvPr id="10" name="Text 8"/>
          <p:cNvSpPr/>
          <p:nvPr/>
        </p:nvSpPr>
        <p:spPr>
          <a:xfrm>
            <a:off x="822960" y="3017520"/>
            <a:ext cx="4983480" cy="274320"/>
          </a:xfrm>
          <a:prstGeom prst="rect">
            <a:avLst/>
          </a:prstGeom>
          <a:noFill/>
          <a:ln/>
        </p:spPr>
        <p:txBody>
          <a:bodyPr wrap="square" rtlCol="0" anchor="ctr"/>
          <a:lstStyle/>
          <a:p>
            <a:pPr indent="0" marL="0">
              <a:buNone/>
            </a:pPr>
            <a:r>
              <a:rPr lang="en-US" sz="1100" dirty="0">
                <a:solidFill>
                  <a:srgbClr val="A4ACBD"/>
                </a:solidFill>
                <a:latin typeface="Calibri" pitchFamily="34" charset="0"/>
                <a:ea typeface="Calibri" pitchFamily="34" charset="-122"/>
                <a:cs typeface="Calibri" pitchFamily="34" charset="-120"/>
              </a:rPr>
              <a:t>University of Adelaide — CREST  ·  Adelaide, Australia</a:t>
            </a:r>
            <a:endParaRPr lang="en-US" sz="1100" dirty="0"/>
          </a:p>
        </p:txBody>
      </p:sp>
      <p:sp>
        <p:nvSpPr>
          <p:cNvPr id="11" name="Text 9"/>
          <p:cNvSpPr/>
          <p:nvPr/>
        </p:nvSpPr>
        <p:spPr>
          <a:xfrm>
            <a:off x="822960" y="3429000"/>
            <a:ext cx="4983480" cy="274320"/>
          </a:xfrm>
          <a:prstGeom prst="rect">
            <a:avLst/>
          </a:prstGeom>
          <a:noFill/>
          <a:ln/>
        </p:spPr>
        <p:txBody>
          <a:bodyPr wrap="square" rtlCol="0" anchor="ctr"/>
          <a:lstStyle/>
          <a:p>
            <a:pPr indent="0" marL="0">
              <a:buNone/>
            </a:pPr>
            <a:r>
              <a:rPr lang="en-US" sz="900" b="1" spc="300" kern="0" dirty="0">
                <a:solidFill>
                  <a:srgbClr val="7CE7FF"/>
                </a:solidFill>
                <a:latin typeface="Consolas" pitchFamily="34" charset="0"/>
                <a:ea typeface="Consolas" pitchFamily="34" charset="-122"/>
                <a:cs typeface="Consolas" pitchFamily="34" charset="-120"/>
              </a:rPr>
              <a:t>HIGHLIGHTS</a:t>
            </a:r>
            <a:endParaRPr lang="en-US" sz="900" dirty="0"/>
          </a:p>
        </p:txBody>
      </p:sp>
      <p:sp>
        <p:nvSpPr>
          <p:cNvPr id="12" name="Text 10"/>
          <p:cNvSpPr/>
          <p:nvPr/>
        </p:nvSpPr>
        <p:spPr>
          <a:xfrm>
            <a:off x="822960" y="3703320"/>
            <a:ext cx="4983480" cy="128016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  Contributed to several web and mobile applications used by research and project teams. The tools are functional and have supported research outputs and fundraising activities, rather than being production systems at industrial scale.</a:t>
            </a:r>
            <a:endParaRPr lang="en-US" sz="1100" dirty="0"/>
          </a:p>
        </p:txBody>
      </p:sp>
      <p:sp>
        <p:nvSpPr>
          <p:cNvPr id="13" name="Text 11"/>
          <p:cNvSpPr/>
          <p:nvPr/>
        </p:nvSpPr>
        <p:spPr>
          <a:xfrm>
            <a:off x="822960" y="5029200"/>
            <a:ext cx="4983480" cy="274320"/>
          </a:xfrm>
          <a:prstGeom prst="rect">
            <a:avLst/>
          </a:prstGeom>
          <a:noFill/>
          <a:ln/>
        </p:spPr>
        <p:txBody>
          <a:bodyPr wrap="square" rtlCol="0" anchor="ctr"/>
          <a:lstStyle/>
          <a:p>
            <a:pPr indent="0" marL="0">
              <a:buNone/>
            </a:pPr>
            <a:r>
              <a:rPr lang="en-US" sz="900" spc="300" kern="0" dirty="0">
                <a:solidFill>
                  <a:srgbClr val="6B7388"/>
                </a:solidFill>
                <a:latin typeface="Consolas" pitchFamily="34" charset="0"/>
                <a:ea typeface="Consolas" pitchFamily="34" charset="-122"/>
                <a:cs typeface="Consolas" pitchFamily="34" charset="-120"/>
              </a:rPr>
              <a:t>WHAT I DID</a:t>
            </a:r>
            <a:endParaRPr lang="en-US" sz="900" dirty="0"/>
          </a:p>
        </p:txBody>
      </p:sp>
      <p:sp>
        <p:nvSpPr>
          <p:cNvPr id="14" name="Text 12"/>
          <p:cNvSpPr/>
          <p:nvPr/>
        </p:nvSpPr>
        <p:spPr>
          <a:xfrm>
            <a:off x="822960" y="5303520"/>
            <a:ext cx="4983480" cy="822960"/>
          </a:xfrm>
          <a:prstGeom prst="rect">
            <a:avLst/>
          </a:prstGeom>
          <a:noFill/>
          <a:ln/>
        </p:spPr>
        <p:txBody>
          <a:bodyPr wrap="square" rtlCol="0" anchor="ctr"/>
          <a:lstStyle/>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Built backend services and REST APIs in Node.js and Python, integrating PostgreSQL, MongoDB, Milvus and Neo4j across internal-facing systems.</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Wrote Python data-processing workflows and LLM-enabled pipelines for model training, fine-tuning and inference, helping researchers automate work that had been manual.</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Set up CI/CD with GitHub Actions and container-based deployments using Docker and OpenStack to make the team's release process more consistent.</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Took part in API design reviews and wrote documentation in Swagger and GitHub Wiki to help teammates and external collaborators integrate with our services.</a:t>
            </a:r>
            <a:endParaRPr lang="en-US" sz="1000" dirty="0"/>
          </a:p>
        </p:txBody>
      </p:sp>
      <p:sp>
        <p:nvSpPr>
          <p:cNvPr id="15" name="Shape 13"/>
          <p:cNvSpPr/>
          <p:nvPr/>
        </p:nvSpPr>
        <p:spPr>
          <a:xfrm>
            <a:off x="6263640" y="2103120"/>
            <a:ext cx="5532120" cy="4206240"/>
          </a:xfrm>
          <a:prstGeom prst="rect">
            <a:avLst/>
          </a:prstGeom>
          <a:solidFill>
            <a:srgbClr val="12161F"/>
          </a:solidFill>
          <a:ln w="6350">
            <a:solidFill>
              <a:srgbClr val="23293A"/>
            </a:solidFill>
            <a:prstDash val="solid"/>
          </a:ln>
        </p:spPr>
      </p:sp>
      <p:sp>
        <p:nvSpPr>
          <p:cNvPr id="16" name="Text 14"/>
          <p:cNvSpPr/>
          <p:nvPr/>
        </p:nvSpPr>
        <p:spPr>
          <a:xfrm>
            <a:off x="6537960" y="2286000"/>
            <a:ext cx="4983480" cy="274320"/>
          </a:xfrm>
          <a:prstGeom prst="rect">
            <a:avLst/>
          </a:prstGeom>
          <a:noFill/>
          <a:ln/>
        </p:spPr>
        <p:txBody>
          <a:bodyPr wrap="square" rtlCol="0" anchor="ctr"/>
          <a:lstStyle/>
          <a:p>
            <a:pPr indent="0" marL="0">
              <a:buNone/>
            </a:pPr>
            <a:r>
              <a:rPr lang="en-US" sz="900" spc="300" kern="0" dirty="0">
                <a:solidFill>
                  <a:srgbClr val="6B7388"/>
                </a:solidFill>
                <a:latin typeface="Consolas" pitchFamily="34" charset="0"/>
                <a:ea typeface="Consolas" pitchFamily="34" charset="-122"/>
                <a:cs typeface="Consolas" pitchFamily="34" charset="-120"/>
              </a:rPr>
              <a:t>MAR 2019 – SEP 2020</a:t>
            </a:r>
            <a:endParaRPr lang="en-US" sz="900" dirty="0"/>
          </a:p>
        </p:txBody>
      </p:sp>
      <p:sp>
        <p:nvSpPr>
          <p:cNvPr id="17" name="Text 15"/>
          <p:cNvSpPr/>
          <p:nvPr/>
        </p:nvSpPr>
        <p:spPr>
          <a:xfrm>
            <a:off x="6537960" y="2606040"/>
            <a:ext cx="4983480" cy="411480"/>
          </a:xfrm>
          <a:prstGeom prst="rect">
            <a:avLst/>
          </a:prstGeom>
          <a:noFill/>
          <a:ln/>
        </p:spPr>
        <p:txBody>
          <a:bodyPr wrap="square" rtlCol="0" anchor="ctr"/>
          <a:lstStyle/>
          <a:p>
            <a:pPr indent="0" marL="0">
              <a:buNone/>
            </a:pPr>
            <a:r>
              <a:rPr lang="en-US" sz="1800" b="1" dirty="0">
                <a:solidFill>
                  <a:srgbClr val="EDF1F7"/>
                </a:solidFill>
                <a:latin typeface="Calibri" pitchFamily="34" charset="0"/>
                <a:ea typeface="Calibri" pitchFamily="34" charset="-122"/>
                <a:cs typeface="Calibri" pitchFamily="34" charset="-120"/>
              </a:rPr>
              <a:t>Application Developer</a:t>
            </a:r>
            <a:endParaRPr lang="en-US" sz="1800" dirty="0"/>
          </a:p>
        </p:txBody>
      </p:sp>
      <p:sp>
        <p:nvSpPr>
          <p:cNvPr id="18" name="Text 16"/>
          <p:cNvSpPr/>
          <p:nvPr/>
        </p:nvSpPr>
        <p:spPr>
          <a:xfrm>
            <a:off x="6537960" y="3017520"/>
            <a:ext cx="4983480" cy="274320"/>
          </a:xfrm>
          <a:prstGeom prst="rect">
            <a:avLst/>
          </a:prstGeom>
          <a:noFill/>
          <a:ln/>
        </p:spPr>
        <p:txBody>
          <a:bodyPr wrap="square" rtlCol="0" anchor="ctr"/>
          <a:lstStyle/>
          <a:p>
            <a:pPr indent="0" marL="0">
              <a:buNone/>
            </a:pPr>
            <a:r>
              <a:rPr lang="en-US" sz="1100" dirty="0">
                <a:solidFill>
                  <a:srgbClr val="A4ACBD"/>
                </a:solidFill>
                <a:latin typeface="Calibri" pitchFamily="34" charset="0"/>
                <a:ea typeface="Calibri" pitchFamily="34" charset="-122"/>
                <a:cs typeface="Calibri" pitchFamily="34" charset="-120"/>
              </a:rPr>
              <a:t>ANZ New Zealand  ·  Wellington, New Zealand</a:t>
            </a:r>
            <a:endParaRPr lang="en-US" sz="1100" dirty="0"/>
          </a:p>
        </p:txBody>
      </p:sp>
      <p:sp>
        <p:nvSpPr>
          <p:cNvPr id="19" name="Text 17"/>
          <p:cNvSpPr/>
          <p:nvPr/>
        </p:nvSpPr>
        <p:spPr>
          <a:xfrm>
            <a:off x="6537960" y="3429000"/>
            <a:ext cx="4983480" cy="274320"/>
          </a:xfrm>
          <a:prstGeom prst="rect">
            <a:avLst/>
          </a:prstGeom>
          <a:noFill/>
          <a:ln/>
        </p:spPr>
        <p:txBody>
          <a:bodyPr wrap="square" rtlCol="0" anchor="ctr"/>
          <a:lstStyle/>
          <a:p>
            <a:pPr indent="0" marL="0">
              <a:buNone/>
            </a:pPr>
            <a:r>
              <a:rPr lang="en-US" sz="900" b="1" spc="300" kern="0" dirty="0">
                <a:solidFill>
                  <a:srgbClr val="7CE7FF"/>
                </a:solidFill>
                <a:latin typeface="Consolas" pitchFamily="34" charset="0"/>
                <a:ea typeface="Consolas" pitchFamily="34" charset="-122"/>
                <a:cs typeface="Consolas" pitchFamily="34" charset="-120"/>
              </a:rPr>
              <a:t>HIGHLIGHTS</a:t>
            </a:r>
            <a:endParaRPr lang="en-US" sz="900" dirty="0"/>
          </a:p>
        </p:txBody>
      </p:sp>
      <p:sp>
        <p:nvSpPr>
          <p:cNvPr id="20" name="Text 18"/>
          <p:cNvSpPr/>
          <p:nvPr/>
        </p:nvSpPr>
        <p:spPr>
          <a:xfrm>
            <a:off x="6537960" y="3703320"/>
            <a:ext cx="4983480" cy="128016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  Worked on an enterprise disaster-recovery management platform, contributing to a Java / Spring Boot microservices solution that replaced manual, Excel-based workflows. The team's work was recognised with the Kau Mau Te Wehi Award and was associated with a measured ~10% improvement in disaster-recovery exercise efficiency.</a:t>
            </a:r>
            <a:endParaRPr lang="en-US" sz="1100" dirty="0"/>
          </a:p>
        </p:txBody>
      </p:sp>
      <p:sp>
        <p:nvSpPr>
          <p:cNvPr id="21" name="Text 19"/>
          <p:cNvSpPr/>
          <p:nvPr/>
        </p:nvSpPr>
        <p:spPr>
          <a:xfrm>
            <a:off x="6537960" y="5029200"/>
            <a:ext cx="4983480" cy="274320"/>
          </a:xfrm>
          <a:prstGeom prst="rect">
            <a:avLst/>
          </a:prstGeom>
          <a:noFill/>
          <a:ln/>
        </p:spPr>
        <p:txBody>
          <a:bodyPr wrap="square" rtlCol="0" anchor="ctr"/>
          <a:lstStyle/>
          <a:p>
            <a:pPr indent="0" marL="0">
              <a:buNone/>
            </a:pPr>
            <a:r>
              <a:rPr lang="en-US" sz="900" spc="300" kern="0" dirty="0">
                <a:solidFill>
                  <a:srgbClr val="6B7388"/>
                </a:solidFill>
                <a:latin typeface="Consolas" pitchFamily="34" charset="0"/>
                <a:ea typeface="Consolas" pitchFamily="34" charset="-122"/>
                <a:cs typeface="Consolas" pitchFamily="34" charset="-120"/>
              </a:rPr>
              <a:t>WHAT I DID</a:t>
            </a:r>
            <a:endParaRPr lang="en-US" sz="900" dirty="0"/>
          </a:p>
        </p:txBody>
      </p:sp>
      <p:sp>
        <p:nvSpPr>
          <p:cNvPr id="22" name="Text 20"/>
          <p:cNvSpPr/>
          <p:nvPr/>
        </p:nvSpPr>
        <p:spPr>
          <a:xfrm>
            <a:off x="6537960" y="5303520"/>
            <a:ext cx="4983480" cy="822960"/>
          </a:xfrm>
          <a:prstGeom prst="rect">
            <a:avLst/>
          </a:prstGeom>
          <a:noFill/>
          <a:ln/>
        </p:spPr>
        <p:txBody>
          <a:bodyPr wrap="square" rtlCol="0" anchor="ctr"/>
          <a:lstStyle/>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Carried out schema updates and data migrations on Microsoft SQL Server, helping to maintain data integrity through complex disaster-recovery scenarios.</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Helped with containerised deployments on Docker and Red Hat OpenShift and contributed to CI/CD pipeline configuration alongside the team.</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Worked with business stakeholders to understand operational needs and translate them into application features.</a:t>
            </a:r>
            <a:endParaRPr lang="en-US" sz="1000" dirty="0"/>
          </a:p>
          <a:p>
            <a:pPr indent="0" marL="0">
              <a:lnSpc>
                <a:spcPct val="140000"/>
              </a:lnSpc>
              <a:buNone/>
            </a:pPr>
            <a:r>
              <a:rPr lang="en-US" sz="1000" dirty="0">
                <a:solidFill>
                  <a:srgbClr val="A4ACBD"/>
                </a:solidFill>
                <a:latin typeface="Calibri" pitchFamily="34" charset="0"/>
                <a:ea typeface="Calibri" pitchFamily="34" charset="-122"/>
                <a:cs typeface="Calibri" pitchFamily="34" charset="-120"/>
              </a:rPr>
              <a:t>•  Investigated and resolved issues during live disaster-recovery exercises, which taught me a lot about diagnosing systems under pressure.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 05  </a:t>
            </a:r>
            <a:pPr indent="0" marL="0">
              <a:buNone/>
            </a:pPr>
            <a:r>
              <a:rPr lang="en-US" sz="1100" spc="400" kern="0" dirty="0">
                <a:solidFill>
                  <a:srgbClr val="A4ACBD"/>
                </a:solidFill>
                <a:latin typeface="Consolas" pitchFamily="34" charset="0"/>
                <a:ea typeface="Consolas" pitchFamily="34" charset="-122"/>
                <a:cs typeface="Consolas" pitchFamily="34" charset="-120"/>
              </a:rPr>
              <a:t>SELECTED WORK</a:t>
            </a:r>
            <a:endParaRPr lang="en-US" sz="1100" dirty="0"/>
          </a:p>
        </p:txBody>
      </p:sp>
      <p:sp>
        <p:nvSpPr>
          <p:cNvPr id="6" name="Text 4"/>
          <p:cNvSpPr/>
          <p:nvPr/>
        </p:nvSpPr>
        <p:spPr>
          <a:xfrm>
            <a:off x="548640" y="1005840"/>
            <a:ext cx="8229600" cy="731520"/>
          </a:xfrm>
          <a:prstGeom prst="rect">
            <a:avLst/>
          </a:prstGeom>
          <a:noFill/>
          <a:ln/>
        </p:spPr>
        <p:txBody>
          <a:bodyPr wrap="square" rtlCol="0" anchor="ctr"/>
          <a:lstStyle/>
          <a:p>
            <a:pPr indent="0" marL="0">
              <a:buNone/>
            </a:pPr>
            <a:r>
              <a:rPr lang="en-US" sz="3600" b="1" spc="-100" kern="0" dirty="0">
                <a:solidFill>
                  <a:srgbClr val="EDF1F7"/>
                </a:solidFill>
                <a:latin typeface="Calibri" pitchFamily="34" charset="0"/>
                <a:ea typeface="Calibri" pitchFamily="34" charset="-122"/>
                <a:cs typeface="Calibri" pitchFamily="34" charset="-120"/>
              </a:rPr>
              <a:t>Signature projects.</a:t>
            </a:r>
            <a:endParaRPr lang="en-US" sz="3600" dirty="0"/>
          </a:p>
        </p:txBody>
      </p:sp>
      <p:sp>
        <p:nvSpPr>
          <p:cNvPr id="7" name="Text 5"/>
          <p:cNvSpPr/>
          <p:nvPr/>
        </p:nvSpPr>
        <p:spPr>
          <a:xfrm>
            <a:off x="548640" y="1783080"/>
            <a:ext cx="8229600" cy="274320"/>
          </a:xfrm>
          <a:prstGeom prst="rect">
            <a:avLst/>
          </a:prstGeom>
          <a:noFill/>
          <a:ln/>
        </p:spPr>
        <p:txBody>
          <a:bodyPr wrap="square" rtlCol="0" anchor="ctr"/>
          <a:lstStyle/>
          <a:p>
            <a:pPr indent="0" marL="0">
              <a:buNone/>
            </a:pPr>
            <a:r>
              <a:rPr lang="en-US" sz="1100" spc="200" kern="0" dirty="0">
                <a:solidFill>
                  <a:srgbClr val="6B7388"/>
                </a:solidFill>
                <a:latin typeface="Consolas" pitchFamily="34" charset="0"/>
                <a:ea typeface="Consolas" pitchFamily="34" charset="-122"/>
                <a:cs typeface="Consolas" pitchFamily="34" charset="-120"/>
              </a:rPr>
              <a:t>Earlier work — study era + first enterprise role</a:t>
            </a:r>
            <a:endParaRPr lang="en-US" sz="1100" dirty="0"/>
          </a:p>
        </p:txBody>
      </p:sp>
      <p:sp>
        <p:nvSpPr>
          <p:cNvPr id="8" name="Shape 6"/>
          <p:cNvSpPr/>
          <p:nvPr/>
        </p:nvSpPr>
        <p:spPr>
          <a:xfrm>
            <a:off x="548640" y="2377440"/>
            <a:ext cx="11109960" cy="1325880"/>
          </a:xfrm>
          <a:prstGeom prst="rect">
            <a:avLst/>
          </a:prstGeom>
          <a:solidFill>
            <a:srgbClr val="12161F"/>
          </a:solidFill>
          <a:ln w="6350">
            <a:solidFill>
              <a:srgbClr val="23293A"/>
            </a:solidFill>
            <a:prstDash val="solid"/>
          </a:ln>
        </p:spPr>
      </p:sp>
      <p:sp>
        <p:nvSpPr>
          <p:cNvPr id="9" name="Text 7"/>
          <p:cNvSpPr/>
          <p:nvPr/>
        </p:nvSpPr>
        <p:spPr>
          <a:xfrm>
            <a:off x="777240" y="2606040"/>
            <a:ext cx="548640" cy="457200"/>
          </a:xfrm>
          <a:prstGeom prst="rect">
            <a:avLst/>
          </a:prstGeom>
          <a:noFill/>
          <a:ln/>
        </p:spPr>
        <p:txBody>
          <a:bodyPr wrap="square" rtlCol="0" anchor="ctr"/>
          <a:lstStyle/>
          <a:p>
            <a:pPr indent="0" marL="0">
              <a:buNone/>
            </a:pPr>
            <a:r>
              <a:rPr lang="en-US" sz="1400" b="1" spc="200" kern="0" dirty="0">
                <a:solidFill>
                  <a:srgbClr val="7CE7FF"/>
                </a:solidFill>
                <a:latin typeface="Consolas" pitchFamily="34" charset="0"/>
                <a:ea typeface="Consolas" pitchFamily="34" charset="-122"/>
                <a:cs typeface="Consolas" pitchFamily="34" charset="-120"/>
              </a:rPr>
              <a:t>01</a:t>
            </a:r>
            <a:endParaRPr lang="en-US" sz="1400" dirty="0"/>
          </a:p>
        </p:txBody>
      </p:sp>
      <p:sp>
        <p:nvSpPr>
          <p:cNvPr id="10" name="Text 8"/>
          <p:cNvSpPr/>
          <p:nvPr/>
        </p:nvSpPr>
        <p:spPr>
          <a:xfrm>
            <a:off x="1417320" y="2542032"/>
            <a:ext cx="5943600" cy="457200"/>
          </a:xfrm>
          <a:prstGeom prst="rect">
            <a:avLst/>
          </a:prstGeom>
          <a:noFill/>
          <a:ln/>
        </p:spPr>
        <p:txBody>
          <a:bodyPr wrap="square" rtlCol="0" anchor="ctr"/>
          <a:lstStyle/>
          <a:p>
            <a:pPr indent="0" marL="0">
              <a:buNone/>
            </a:pPr>
            <a:r>
              <a:rPr lang="en-US" sz="1600" b="1" dirty="0">
                <a:solidFill>
                  <a:srgbClr val="EDF1F7"/>
                </a:solidFill>
                <a:latin typeface="Calibri" pitchFamily="34" charset="0"/>
                <a:ea typeface="Calibri" pitchFamily="34" charset="-122"/>
                <a:cs typeface="Calibri" pitchFamily="34" charset="-120"/>
              </a:rPr>
              <a:t>Disaster-Recovery App</a:t>
            </a:r>
            <a:endParaRPr lang="en-US" sz="1600" dirty="0"/>
          </a:p>
        </p:txBody>
      </p:sp>
      <p:sp>
        <p:nvSpPr>
          <p:cNvPr id="11" name="Text 9"/>
          <p:cNvSpPr/>
          <p:nvPr/>
        </p:nvSpPr>
        <p:spPr>
          <a:xfrm>
            <a:off x="1417320" y="2971800"/>
            <a:ext cx="7772400" cy="457200"/>
          </a:xfrm>
          <a:prstGeom prst="rect">
            <a:avLst/>
          </a:prstGeom>
          <a:noFill/>
          <a:ln/>
        </p:spPr>
        <p:txBody>
          <a:bodyPr wrap="square" rtlCol="0" anchor="ctr"/>
          <a:lstStyle/>
          <a:p>
            <a:pPr indent="0" marL="0">
              <a:lnSpc>
                <a:spcPct val="130000"/>
              </a:lnSpc>
              <a:buNone/>
            </a:pPr>
            <a:r>
              <a:rPr lang="en-US" sz="1050" dirty="0">
                <a:solidFill>
                  <a:srgbClr val="A4ACBD"/>
                </a:solidFill>
                <a:latin typeface="Calibri" pitchFamily="34" charset="0"/>
                <a:ea typeface="Calibri" pitchFamily="34" charset="-122"/>
                <a:cs typeface="Calibri" pitchFamily="34" charset="-120"/>
              </a:rPr>
              <a:t>Java/Spring Boot + MS SQL platform replacing manual, Excel-based DR workflows for an enterprise team. Recognised with the Kau Mau Te Wehi Award.</a:t>
            </a:r>
            <a:endParaRPr lang="en-US" sz="1050" dirty="0"/>
          </a:p>
        </p:txBody>
      </p:sp>
      <p:sp>
        <p:nvSpPr>
          <p:cNvPr id="12" name="Text 10"/>
          <p:cNvSpPr/>
          <p:nvPr/>
        </p:nvSpPr>
        <p:spPr>
          <a:xfrm>
            <a:off x="1417320" y="3383280"/>
            <a:ext cx="6858000" cy="274320"/>
          </a:xfrm>
          <a:prstGeom prst="rect">
            <a:avLst/>
          </a:prstGeom>
          <a:noFill/>
          <a:ln/>
        </p:spPr>
        <p:txBody>
          <a:bodyPr wrap="square" rtlCol="0" anchor="ctr"/>
          <a:lstStyle/>
          <a:p>
            <a:pPr indent="0" marL="0">
              <a:buNone/>
            </a:pPr>
            <a:r>
              <a:rPr lang="en-US" sz="900" spc="100" kern="0" dirty="0">
                <a:solidFill>
                  <a:srgbClr val="6B7388"/>
                </a:solidFill>
                <a:latin typeface="Consolas" pitchFamily="34" charset="0"/>
                <a:ea typeface="Consolas" pitchFamily="34" charset="-122"/>
                <a:cs typeface="Consolas" pitchFamily="34" charset="-120"/>
              </a:rPr>
              <a:t>Java  ·  Spring Boot  ·  MS SQL  ·  OpenShift  ·  Docker</a:t>
            </a:r>
            <a:endParaRPr lang="en-US" sz="900" dirty="0"/>
          </a:p>
        </p:txBody>
      </p:sp>
      <p:sp>
        <p:nvSpPr>
          <p:cNvPr id="13" name="Text 11"/>
          <p:cNvSpPr/>
          <p:nvPr/>
        </p:nvSpPr>
        <p:spPr>
          <a:xfrm>
            <a:off x="9509760" y="2560320"/>
            <a:ext cx="210312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WEB DEVELOPMENT</a:t>
            </a:r>
            <a:endParaRPr lang="en-US" sz="900" dirty="0"/>
          </a:p>
        </p:txBody>
      </p:sp>
      <p:sp>
        <p:nvSpPr>
          <p:cNvPr id="14" name="Text 12"/>
          <p:cNvSpPr/>
          <p:nvPr/>
        </p:nvSpPr>
        <p:spPr>
          <a:xfrm>
            <a:off x="9509760" y="2834640"/>
            <a:ext cx="2103120" cy="274320"/>
          </a:xfrm>
          <a:prstGeom prst="rect">
            <a:avLst/>
          </a:prstGeom>
          <a:noFill/>
          <a:ln/>
        </p:spPr>
        <p:txBody>
          <a:bodyPr wrap="square" rtlCol="0" anchor="ctr"/>
          <a:lstStyle/>
          <a:p>
            <a:pPr algn="r" indent="0" marL="0">
              <a:buNone/>
            </a:pPr>
            <a:r>
              <a:rPr lang="en-US" sz="900" b="1" spc="200" kern="0" dirty="0">
                <a:solidFill>
                  <a:srgbClr val="7CE7FF"/>
                </a:solidFill>
                <a:latin typeface="Consolas" pitchFamily="34" charset="0"/>
                <a:ea typeface="Consolas" pitchFamily="34" charset="-122"/>
                <a:cs typeface="Consolas" pitchFamily="34" charset="-120"/>
              </a:rPr>
              <a:t>ANZ NEW ZEALAND</a:t>
            </a:r>
            <a:endParaRPr lang="en-US" sz="900" dirty="0"/>
          </a:p>
        </p:txBody>
      </p:sp>
      <p:sp>
        <p:nvSpPr>
          <p:cNvPr id="15" name="Shape 13"/>
          <p:cNvSpPr/>
          <p:nvPr/>
        </p:nvSpPr>
        <p:spPr>
          <a:xfrm>
            <a:off x="548640" y="3840480"/>
            <a:ext cx="11109960" cy="1325880"/>
          </a:xfrm>
          <a:prstGeom prst="rect">
            <a:avLst/>
          </a:prstGeom>
          <a:solidFill>
            <a:srgbClr val="12161F"/>
          </a:solidFill>
          <a:ln w="6350">
            <a:solidFill>
              <a:srgbClr val="23293A"/>
            </a:solidFill>
            <a:prstDash val="solid"/>
          </a:ln>
        </p:spPr>
      </p:sp>
      <p:sp>
        <p:nvSpPr>
          <p:cNvPr id="16" name="Text 14"/>
          <p:cNvSpPr/>
          <p:nvPr/>
        </p:nvSpPr>
        <p:spPr>
          <a:xfrm>
            <a:off x="777240" y="4069080"/>
            <a:ext cx="548640" cy="457200"/>
          </a:xfrm>
          <a:prstGeom prst="rect">
            <a:avLst/>
          </a:prstGeom>
          <a:noFill/>
          <a:ln/>
        </p:spPr>
        <p:txBody>
          <a:bodyPr wrap="square" rtlCol="0" anchor="ctr"/>
          <a:lstStyle/>
          <a:p>
            <a:pPr indent="0" marL="0">
              <a:buNone/>
            </a:pPr>
            <a:r>
              <a:rPr lang="en-US" sz="1400" b="1" spc="200" kern="0" dirty="0">
                <a:solidFill>
                  <a:srgbClr val="7CE7FF"/>
                </a:solidFill>
                <a:latin typeface="Consolas" pitchFamily="34" charset="0"/>
                <a:ea typeface="Consolas" pitchFamily="34" charset="-122"/>
                <a:cs typeface="Consolas" pitchFamily="34" charset="-120"/>
              </a:rPr>
              <a:t>02</a:t>
            </a:r>
            <a:endParaRPr lang="en-US" sz="1400" dirty="0"/>
          </a:p>
        </p:txBody>
      </p:sp>
      <p:sp>
        <p:nvSpPr>
          <p:cNvPr id="17" name="Text 15"/>
          <p:cNvSpPr/>
          <p:nvPr/>
        </p:nvSpPr>
        <p:spPr>
          <a:xfrm>
            <a:off x="1417320" y="4005072"/>
            <a:ext cx="5943600" cy="457200"/>
          </a:xfrm>
          <a:prstGeom prst="rect">
            <a:avLst/>
          </a:prstGeom>
          <a:noFill/>
          <a:ln/>
        </p:spPr>
        <p:txBody>
          <a:bodyPr wrap="square" rtlCol="0" anchor="ctr"/>
          <a:lstStyle/>
          <a:p>
            <a:pPr indent="0" marL="0">
              <a:buNone/>
            </a:pPr>
            <a:r>
              <a:rPr lang="en-US" sz="1600" b="1" dirty="0">
                <a:solidFill>
                  <a:srgbClr val="EDF1F7"/>
                </a:solidFill>
                <a:latin typeface="Calibri" pitchFamily="34" charset="0"/>
                <a:ea typeface="Calibri" pitchFamily="34" charset="-122"/>
                <a:cs typeface="Calibri" pitchFamily="34" charset="-120"/>
              </a:rPr>
              <a:t>Tree Height Estimation</a:t>
            </a:r>
            <a:endParaRPr lang="en-US" sz="1600" dirty="0"/>
          </a:p>
        </p:txBody>
      </p:sp>
      <p:sp>
        <p:nvSpPr>
          <p:cNvPr id="18" name="Text 16"/>
          <p:cNvSpPr/>
          <p:nvPr/>
        </p:nvSpPr>
        <p:spPr>
          <a:xfrm>
            <a:off x="1417320" y="4434840"/>
            <a:ext cx="7772400" cy="457200"/>
          </a:xfrm>
          <a:prstGeom prst="rect">
            <a:avLst/>
          </a:prstGeom>
          <a:noFill/>
          <a:ln/>
        </p:spPr>
        <p:txBody>
          <a:bodyPr wrap="square" rtlCol="0" anchor="ctr"/>
          <a:lstStyle/>
          <a:p>
            <a:pPr indent="0" marL="0">
              <a:lnSpc>
                <a:spcPct val="130000"/>
              </a:lnSpc>
              <a:buNone/>
            </a:pPr>
            <a:r>
              <a:rPr lang="en-US" sz="1050" dirty="0">
                <a:solidFill>
                  <a:srgbClr val="A4ACBD"/>
                </a:solidFill>
                <a:latin typeface="Calibri" pitchFamily="34" charset="0"/>
                <a:ea typeface="Calibri" pitchFamily="34" charset="-122"/>
                <a:cs typeface="Calibri" pitchFamily="34" charset="-120"/>
              </a:rPr>
              <a:t>Street-view computer-vision pipeline estimating tree height and species. Master's research project at UofA.</a:t>
            </a:r>
            <a:endParaRPr lang="en-US" sz="1050" dirty="0"/>
          </a:p>
        </p:txBody>
      </p:sp>
      <p:sp>
        <p:nvSpPr>
          <p:cNvPr id="19" name="Text 17"/>
          <p:cNvSpPr/>
          <p:nvPr/>
        </p:nvSpPr>
        <p:spPr>
          <a:xfrm>
            <a:off x="1417320" y="4846320"/>
            <a:ext cx="6858000" cy="274320"/>
          </a:xfrm>
          <a:prstGeom prst="rect">
            <a:avLst/>
          </a:prstGeom>
          <a:noFill/>
          <a:ln/>
        </p:spPr>
        <p:txBody>
          <a:bodyPr wrap="square" rtlCol="0" anchor="ctr"/>
          <a:lstStyle/>
          <a:p>
            <a:pPr indent="0" marL="0">
              <a:buNone/>
            </a:pPr>
            <a:r>
              <a:rPr lang="en-US" sz="900" spc="100" kern="0" dirty="0">
                <a:solidFill>
                  <a:srgbClr val="6B7388"/>
                </a:solidFill>
                <a:latin typeface="Consolas" pitchFamily="34" charset="0"/>
                <a:ea typeface="Consolas" pitchFamily="34" charset="-122"/>
                <a:cs typeface="Consolas" pitchFamily="34" charset="-120"/>
              </a:rPr>
              <a:t>Python  ·  TensorFlow/PyTorch  ·  OpenCV</a:t>
            </a:r>
            <a:endParaRPr lang="en-US" sz="900" dirty="0"/>
          </a:p>
        </p:txBody>
      </p:sp>
      <p:sp>
        <p:nvSpPr>
          <p:cNvPr id="20" name="Text 18"/>
          <p:cNvSpPr/>
          <p:nvPr/>
        </p:nvSpPr>
        <p:spPr>
          <a:xfrm>
            <a:off x="9509760" y="4023360"/>
            <a:ext cx="210312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ML</a:t>
            </a:r>
            <a:endParaRPr lang="en-US" sz="900" dirty="0"/>
          </a:p>
        </p:txBody>
      </p:sp>
      <p:sp>
        <p:nvSpPr>
          <p:cNvPr id="21" name="Text 19"/>
          <p:cNvSpPr/>
          <p:nvPr/>
        </p:nvSpPr>
        <p:spPr>
          <a:xfrm>
            <a:off x="9509760" y="4297680"/>
            <a:ext cx="2103120" cy="274320"/>
          </a:xfrm>
          <a:prstGeom prst="rect">
            <a:avLst/>
          </a:prstGeom>
          <a:noFill/>
          <a:ln/>
        </p:spPr>
        <p:txBody>
          <a:bodyPr wrap="square" rtlCol="0" anchor="ctr"/>
          <a:lstStyle/>
          <a:p>
            <a:pPr algn="r" indent="0" marL="0">
              <a:buNone/>
            </a:pPr>
            <a:r>
              <a:rPr lang="en-US" sz="900" b="1" spc="200" kern="0" dirty="0">
                <a:solidFill>
                  <a:srgbClr val="7CE7FF"/>
                </a:solidFill>
                <a:latin typeface="Consolas" pitchFamily="34" charset="0"/>
                <a:ea typeface="Consolas" pitchFamily="34" charset="-122"/>
                <a:cs typeface="Consolas" pitchFamily="34" charset="-120"/>
              </a:rPr>
              <a:t>UNIVERSITY OF ADELAIDE</a:t>
            </a:r>
            <a:endParaRPr lang="en-US" sz="900" dirty="0"/>
          </a:p>
        </p:txBody>
      </p:sp>
      <p:sp>
        <p:nvSpPr>
          <p:cNvPr id="22" name="Shape 20"/>
          <p:cNvSpPr/>
          <p:nvPr/>
        </p:nvSpPr>
        <p:spPr>
          <a:xfrm>
            <a:off x="548640" y="5303520"/>
            <a:ext cx="11109960" cy="1325880"/>
          </a:xfrm>
          <a:prstGeom prst="rect">
            <a:avLst/>
          </a:prstGeom>
          <a:solidFill>
            <a:srgbClr val="12161F"/>
          </a:solidFill>
          <a:ln w="6350">
            <a:solidFill>
              <a:srgbClr val="23293A"/>
            </a:solidFill>
            <a:prstDash val="solid"/>
          </a:ln>
        </p:spPr>
      </p:sp>
      <p:sp>
        <p:nvSpPr>
          <p:cNvPr id="23" name="Text 21"/>
          <p:cNvSpPr/>
          <p:nvPr/>
        </p:nvSpPr>
        <p:spPr>
          <a:xfrm>
            <a:off x="777240" y="5532120"/>
            <a:ext cx="548640" cy="457200"/>
          </a:xfrm>
          <a:prstGeom prst="rect">
            <a:avLst/>
          </a:prstGeom>
          <a:noFill/>
          <a:ln/>
        </p:spPr>
        <p:txBody>
          <a:bodyPr wrap="square" rtlCol="0" anchor="ctr"/>
          <a:lstStyle/>
          <a:p>
            <a:pPr indent="0" marL="0">
              <a:buNone/>
            </a:pPr>
            <a:r>
              <a:rPr lang="en-US" sz="1400" b="1" spc="200" kern="0" dirty="0">
                <a:solidFill>
                  <a:srgbClr val="7CE7FF"/>
                </a:solidFill>
                <a:latin typeface="Consolas" pitchFamily="34" charset="0"/>
                <a:ea typeface="Consolas" pitchFamily="34" charset="-122"/>
                <a:cs typeface="Consolas" pitchFamily="34" charset="-120"/>
              </a:rPr>
              <a:t>03</a:t>
            </a:r>
            <a:endParaRPr lang="en-US" sz="1400" dirty="0"/>
          </a:p>
        </p:txBody>
      </p:sp>
      <p:sp>
        <p:nvSpPr>
          <p:cNvPr id="24" name="Text 22"/>
          <p:cNvSpPr/>
          <p:nvPr/>
        </p:nvSpPr>
        <p:spPr>
          <a:xfrm>
            <a:off x="1417320" y="5468112"/>
            <a:ext cx="5943600" cy="457200"/>
          </a:xfrm>
          <a:prstGeom prst="rect">
            <a:avLst/>
          </a:prstGeom>
          <a:noFill/>
          <a:ln/>
        </p:spPr>
        <p:txBody>
          <a:bodyPr wrap="square" rtlCol="0" anchor="ctr"/>
          <a:lstStyle/>
          <a:p>
            <a:pPr indent="0" marL="0">
              <a:buNone/>
            </a:pPr>
            <a:r>
              <a:rPr lang="en-US" sz="1600" b="1" dirty="0">
                <a:solidFill>
                  <a:srgbClr val="EDF1F7"/>
                </a:solidFill>
                <a:latin typeface="Calibri" pitchFamily="34" charset="0"/>
                <a:ea typeface="Calibri" pitchFamily="34" charset="-122"/>
                <a:cs typeface="Calibri" pitchFamily="34" charset="-120"/>
              </a:rPr>
              <a:t>Floor-Plan Estimation</a:t>
            </a:r>
            <a:endParaRPr lang="en-US" sz="1600" dirty="0"/>
          </a:p>
        </p:txBody>
      </p:sp>
      <p:sp>
        <p:nvSpPr>
          <p:cNvPr id="25" name="Text 23"/>
          <p:cNvSpPr/>
          <p:nvPr/>
        </p:nvSpPr>
        <p:spPr>
          <a:xfrm>
            <a:off x="1417320" y="5897880"/>
            <a:ext cx="7772400" cy="457200"/>
          </a:xfrm>
          <a:prstGeom prst="rect">
            <a:avLst/>
          </a:prstGeom>
          <a:noFill/>
          <a:ln/>
        </p:spPr>
        <p:txBody>
          <a:bodyPr wrap="square" rtlCol="0" anchor="ctr"/>
          <a:lstStyle/>
          <a:p>
            <a:pPr indent="0" marL="0">
              <a:lnSpc>
                <a:spcPct val="130000"/>
              </a:lnSpc>
              <a:buNone/>
            </a:pPr>
            <a:r>
              <a:rPr lang="en-US" sz="1050" dirty="0">
                <a:solidFill>
                  <a:srgbClr val="A4ACBD"/>
                </a:solidFill>
                <a:latin typeface="Calibri" pitchFamily="34" charset="0"/>
                <a:ea typeface="Calibri" pitchFamily="34" charset="-122"/>
                <a:cs typeface="Calibri" pitchFamily="34" charset="-120"/>
              </a:rPr>
              <a:t>CV/ML pipeline detecting and estimating features from 2D floor plans, reducing manual labelling effort during the internship.</a:t>
            </a:r>
            <a:endParaRPr lang="en-US" sz="1050" dirty="0"/>
          </a:p>
        </p:txBody>
      </p:sp>
      <p:sp>
        <p:nvSpPr>
          <p:cNvPr id="26" name="Text 24"/>
          <p:cNvSpPr/>
          <p:nvPr/>
        </p:nvSpPr>
        <p:spPr>
          <a:xfrm>
            <a:off x="1417320" y="6309360"/>
            <a:ext cx="6858000" cy="274320"/>
          </a:xfrm>
          <a:prstGeom prst="rect">
            <a:avLst/>
          </a:prstGeom>
          <a:noFill/>
          <a:ln/>
        </p:spPr>
        <p:txBody>
          <a:bodyPr wrap="square" rtlCol="0" anchor="ctr"/>
          <a:lstStyle/>
          <a:p>
            <a:pPr indent="0" marL="0">
              <a:buNone/>
            </a:pPr>
            <a:r>
              <a:rPr lang="en-US" sz="900" spc="100" kern="0" dirty="0">
                <a:solidFill>
                  <a:srgbClr val="6B7388"/>
                </a:solidFill>
                <a:latin typeface="Consolas" pitchFamily="34" charset="0"/>
                <a:ea typeface="Consolas" pitchFamily="34" charset="-122"/>
                <a:cs typeface="Consolas" pitchFamily="34" charset="-120"/>
              </a:rPr>
              <a:t>Python  ·  PyTorch  ·  OpenCV</a:t>
            </a:r>
            <a:endParaRPr lang="en-US" sz="900" dirty="0"/>
          </a:p>
        </p:txBody>
      </p:sp>
      <p:sp>
        <p:nvSpPr>
          <p:cNvPr id="27" name="Text 25"/>
          <p:cNvSpPr/>
          <p:nvPr/>
        </p:nvSpPr>
        <p:spPr>
          <a:xfrm>
            <a:off x="9509760" y="5486400"/>
            <a:ext cx="2103120" cy="274320"/>
          </a:xfrm>
          <a:prstGeom prst="rect">
            <a:avLst/>
          </a:prstGeom>
          <a:noFill/>
          <a:ln/>
        </p:spPr>
        <p:txBody>
          <a:bodyPr wrap="square" rtlCol="0" anchor="ctr"/>
          <a:lstStyle/>
          <a:p>
            <a:pPr algn="r" indent="0" marL="0">
              <a:buNone/>
            </a:pPr>
            <a:r>
              <a:rPr lang="en-US" sz="900" spc="300" kern="0" dirty="0">
                <a:solidFill>
                  <a:srgbClr val="6B7388"/>
                </a:solidFill>
                <a:latin typeface="Consolas" pitchFamily="34" charset="0"/>
                <a:ea typeface="Consolas" pitchFamily="34" charset="-122"/>
                <a:cs typeface="Consolas" pitchFamily="34" charset="-120"/>
              </a:rPr>
              <a:t>ML</a:t>
            </a:r>
            <a:endParaRPr lang="en-US" sz="900" dirty="0"/>
          </a:p>
        </p:txBody>
      </p:sp>
      <p:sp>
        <p:nvSpPr>
          <p:cNvPr id="28" name="Text 26"/>
          <p:cNvSpPr/>
          <p:nvPr/>
        </p:nvSpPr>
        <p:spPr>
          <a:xfrm>
            <a:off x="9509760" y="5760720"/>
            <a:ext cx="2103120" cy="274320"/>
          </a:xfrm>
          <a:prstGeom prst="rect">
            <a:avLst/>
          </a:prstGeom>
          <a:noFill/>
          <a:ln/>
        </p:spPr>
        <p:txBody>
          <a:bodyPr wrap="square" rtlCol="0" anchor="ctr"/>
          <a:lstStyle/>
          <a:p>
            <a:pPr algn="r" indent="0" marL="0">
              <a:buNone/>
            </a:pPr>
            <a:r>
              <a:rPr lang="en-US" sz="900" b="1" spc="200" kern="0" dirty="0">
                <a:solidFill>
                  <a:srgbClr val="7CE7FF"/>
                </a:solidFill>
                <a:latin typeface="Consolas" pitchFamily="34" charset="0"/>
                <a:ea typeface="Consolas" pitchFamily="34" charset="-122"/>
                <a:cs typeface="Consolas" pitchFamily="34" charset="-120"/>
              </a:rPr>
              <a:t>ECLIPSE CS — RESEARCH INTERN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7CE7FF"/>
          </a:solidFill>
          <a:ln/>
        </p:spPr>
      </p:sp>
      <p:sp>
        <p:nvSpPr>
          <p:cNvPr id="3" name="Shape 1"/>
          <p:cNvSpPr/>
          <p:nvPr/>
        </p:nvSpPr>
        <p:spPr>
          <a:xfrm>
            <a:off x="8534095" y="4114800"/>
            <a:ext cx="4572000" cy="4572000"/>
          </a:xfrm>
          <a:prstGeom prst="ellipse">
            <a:avLst/>
          </a:prstGeom>
          <a:solidFill>
            <a:srgbClr val="7CE7FF">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7CE7FF"/>
                </a:solidFill>
                <a:latin typeface="Consolas" pitchFamily="34" charset="0"/>
                <a:ea typeface="Consolas" pitchFamily="34" charset="-122"/>
                <a:cs typeface="Consolas" pitchFamily="34" charset="-120"/>
              </a:rPr>
              <a:t>// 06  </a:t>
            </a:r>
            <a:pPr indent="0" marL="0">
              <a:buNone/>
            </a:pPr>
            <a:r>
              <a:rPr lang="en-US" sz="1100" spc="400" kern="0" dirty="0">
                <a:solidFill>
                  <a:srgbClr val="A4ACBD"/>
                </a:solidFill>
                <a:latin typeface="Consolas" pitchFamily="34" charset="0"/>
                <a:ea typeface="Consolas" pitchFamily="34" charset="-122"/>
                <a:cs typeface="Consolas" pitchFamily="34" charset="-120"/>
              </a:rPr>
              <a:t>HOW I WORK</a:t>
            </a:r>
            <a:endParaRPr lang="en-US" sz="1100" dirty="0"/>
          </a:p>
        </p:txBody>
      </p:sp>
      <p:sp>
        <p:nvSpPr>
          <p:cNvPr id="6" name="Text 4"/>
          <p:cNvSpPr/>
          <p:nvPr/>
        </p:nvSpPr>
        <p:spPr>
          <a:xfrm>
            <a:off x="548640" y="1005840"/>
            <a:ext cx="10972800" cy="914400"/>
          </a:xfrm>
          <a:prstGeom prst="rect">
            <a:avLst/>
          </a:prstGeom>
          <a:noFill/>
          <a:ln/>
        </p:spPr>
        <p:txBody>
          <a:bodyPr wrap="square" rtlCol="0" anchor="ctr"/>
          <a:lstStyle/>
          <a:p>
            <a:pPr indent="0" marL="0">
              <a:buNone/>
            </a:pPr>
            <a:r>
              <a:rPr lang="en-US" sz="3000" b="1" spc="-100" kern="0" dirty="0">
                <a:solidFill>
                  <a:srgbClr val="EDF1F7"/>
                </a:solidFill>
                <a:latin typeface="Calibri" pitchFamily="34" charset="0"/>
                <a:ea typeface="Calibri" pitchFamily="34" charset="-122"/>
                <a:cs typeface="Calibri" pitchFamily="34" charset="-120"/>
              </a:rPr>
              <a:t>Reliable in the work, honest about the scope.</a:t>
            </a:r>
            <a:endParaRPr lang="en-US" sz="3000" dirty="0"/>
          </a:p>
        </p:txBody>
      </p:sp>
      <p:sp>
        <p:nvSpPr>
          <p:cNvPr id="7" name="Shape 5"/>
          <p:cNvSpPr/>
          <p:nvPr/>
        </p:nvSpPr>
        <p:spPr>
          <a:xfrm>
            <a:off x="548640" y="2514600"/>
            <a:ext cx="365760" cy="0"/>
          </a:xfrm>
          <a:prstGeom prst="line">
            <a:avLst/>
          </a:prstGeom>
          <a:noFill/>
          <a:ln w="25400">
            <a:solidFill>
              <a:srgbClr val="7CE7FF"/>
            </a:solidFill>
            <a:prstDash val="solid"/>
          </a:ln>
        </p:spPr>
      </p:sp>
      <p:sp>
        <p:nvSpPr>
          <p:cNvPr id="8" name="Text 6"/>
          <p:cNvSpPr/>
          <p:nvPr/>
        </p:nvSpPr>
        <p:spPr>
          <a:xfrm>
            <a:off x="1051560" y="2377440"/>
            <a:ext cx="3657600" cy="365760"/>
          </a:xfrm>
          <a:prstGeom prst="rect">
            <a:avLst/>
          </a:prstGeom>
          <a:noFill/>
          <a:ln/>
        </p:spPr>
        <p:txBody>
          <a:bodyPr wrap="square" rtlCol="0" anchor="ctr"/>
          <a:lstStyle/>
          <a:p>
            <a:pPr indent="0" marL="0">
              <a:buNone/>
            </a:pPr>
            <a:r>
              <a:rPr lang="en-US" sz="1400" b="1" dirty="0">
                <a:solidFill>
                  <a:srgbClr val="EDF1F7"/>
                </a:solidFill>
                <a:latin typeface="Calibri" pitchFamily="34" charset="0"/>
                <a:ea typeface="Calibri" pitchFamily="34" charset="-122"/>
                <a:cs typeface="Calibri" pitchFamily="34" charset="-120"/>
              </a:rPr>
              <a:t>Operate under pressure</a:t>
            </a:r>
            <a:endParaRPr lang="en-US" sz="1400" dirty="0"/>
          </a:p>
        </p:txBody>
      </p:sp>
      <p:sp>
        <p:nvSpPr>
          <p:cNvPr id="9" name="Text 7"/>
          <p:cNvSpPr/>
          <p:nvPr/>
        </p:nvSpPr>
        <p:spPr>
          <a:xfrm>
            <a:off x="4846320" y="2331720"/>
            <a:ext cx="6858000" cy="91440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Investigated and resolved issues during live disaster-recovery exercises at ANZ — diagnosing systems with stakeholders watching.</a:t>
            </a:r>
            <a:endParaRPr lang="en-US" sz="1100" dirty="0"/>
          </a:p>
        </p:txBody>
      </p:sp>
      <p:sp>
        <p:nvSpPr>
          <p:cNvPr id="10" name="Shape 8"/>
          <p:cNvSpPr/>
          <p:nvPr/>
        </p:nvSpPr>
        <p:spPr>
          <a:xfrm>
            <a:off x="548640" y="3474720"/>
            <a:ext cx="365760" cy="0"/>
          </a:xfrm>
          <a:prstGeom prst="line">
            <a:avLst/>
          </a:prstGeom>
          <a:noFill/>
          <a:ln w="25400">
            <a:solidFill>
              <a:srgbClr val="7CE7FF"/>
            </a:solidFill>
            <a:prstDash val="solid"/>
          </a:ln>
        </p:spPr>
      </p:sp>
      <p:sp>
        <p:nvSpPr>
          <p:cNvPr id="11" name="Text 9"/>
          <p:cNvSpPr/>
          <p:nvPr/>
        </p:nvSpPr>
        <p:spPr>
          <a:xfrm>
            <a:off x="1051560" y="3337560"/>
            <a:ext cx="3657600" cy="365760"/>
          </a:xfrm>
          <a:prstGeom prst="rect">
            <a:avLst/>
          </a:prstGeom>
          <a:noFill/>
          <a:ln/>
        </p:spPr>
        <p:txBody>
          <a:bodyPr wrap="square" rtlCol="0" anchor="ctr"/>
          <a:lstStyle/>
          <a:p>
            <a:pPr indent="0" marL="0">
              <a:buNone/>
            </a:pPr>
            <a:r>
              <a:rPr lang="en-US" sz="1400" b="1" dirty="0">
                <a:solidFill>
                  <a:srgbClr val="EDF1F7"/>
                </a:solidFill>
                <a:latin typeface="Calibri" pitchFamily="34" charset="0"/>
                <a:ea typeface="Calibri" pitchFamily="34" charset="-122"/>
                <a:cs typeface="Calibri" pitchFamily="34" charset="-120"/>
              </a:rPr>
              <a:t>Translate across audiences</a:t>
            </a:r>
            <a:endParaRPr lang="en-US" sz="1400" dirty="0"/>
          </a:p>
        </p:txBody>
      </p:sp>
      <p:sp>
        <p:nvSpPr>
          <p:cNvPr id="12" name="Text 10"/>
          <p:cNvSpPr/>
          <p:nvPr/>
        </p:nvSpPr>
        <p:spPr>
          <a:xfrm>
            <a:off x="4846320" y="3291840"/>
            <a:ext cx="6858000" cy="91440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Worked closely with researchers, data scientists and end users to clarify requirements and refine solutions through feedback.</a:t>
            </a:r>
            <a:endParaRPr lang="en-US" sz="1100" dirty="0"/>
          </a:p>
        </p:txBody>
      </p:sp>
      <p:sp>
        <p:nvSpPr>
          <p:cNvPr id="13" name="Shape 11"/>
          <p:cNvSpPr/>
          <p:nvPr/>
        </p:nvSpPr>
        <p:spPr>
          <a:xfrm>
            <a:off x="548640" y="4434840"/>
            <a:ext cx="365760" cy="0"/>
          </a:xfrm>
          <a:prstGeom prst="line">
            <a:avLst/>
          </a:prstGeom>
          <a:noFill/>
          <a:ln w="25400">
            <a:solidFill>
              <a:srgbClr val="7CE7FF"/>
            </a:solidFill>
            <a:prstDash val="solid"/>
          </a:ln>
        </p:spPr>
      </p:sp>
      <p:sp>
        <p:nvSpPr>
          <p:cNvPr id="14" name="Text 12"/>
          <p:cNvSpPr/>
          <p:nvPr/>
        </p:nvSpPr>
        <p:spPr>
          <a:xfrm>
            <a:off x="1051560" y="4297680"/>
            <a:ext cx="3657600" cy="365760"/>
          </a:xfrm>
          <a:prstGeom prst="rect">
            <a:avLst/>
          </a:prstGeom>
          <a:noFill/>
          <a:ln/>
        </p:spPr>
        <p:txBody>
          <a:bodyPr wrap="square" rtlCol="0" anchor="ctr"/>
          <a:lstStyle/>
          <a:p>
            <a:pPr indent="0" marL="0">
              <a:buNone/>
            </a:pPr>
            <a:r>
              <a:rPr lang="en-US" sz="1400" b="1" dirty="0">
                <a:solidFill>
                  <a:srgbClr val="EDF1F7"/>
                </a:solidFill>
                <a:latin typeface="Calibri" pitchFamily="34" charset="0"/>
                <a:ea typeface="Calibri" pitchFamily="34" charset="-122"/>
                <a:cs typeface="Calibri" pitchFamily="34" charset="-120"/>
              </a:rPr>
              <a:t>Mentor + lift the team</a:t>
            </a:r>
            <a:endParaRPr lang="en-US" sz="1400" dirty="0"/>
          </a:p>
        </p:txBody>
      </p:sp>
      <p:sp>
        <p:nvSpPr>
          <p:cNvPr id="15" name="Text 13"/>
          <p:cNvSpPr/>
          <p:nvPr/>
        </p:nvSpPr>
        <p:spPr>
          <a:xfrm>
            <a:off x="4846320" y="4251960"/>
            <a:ext cx="6858000" cy="91440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Onboarded a new teammate over a month and supported student contributors over a semester, adjusting how I explain things to suit each person's experience.</a:t>
            </a:r>
            <a:endParaRPr lang="en-US" sz="1100" dirty="0"/>
          </a:p>
        </p:txBody>
      </p:sp>
      <p:sp>
        <p:nvSpPr>
          <p:cNvPr id="16" name="Shape 14"/>
          <p:cNvSpPr/>
          <p:nvPr/>
        </p:nvSpPr>
        <p:spPr>
          <a:xfrm>
            <a:off x="548640" y="5394960"/>
            <a:ext cx="365760" cy="0"/>
          </a:xfrm>
          <a:prstGeom prst="line">
            <a:avLst/>
          </a:prstGeom>
          <a:noFill/>
          <a:ln w="25400">
            <a:solidFill>
              <a:srgbClr val="7CE7FF"/>
            </a:solidFill>
            <a:prstDash val="solid"/>
          </a:ln>
        </p:spPr>
      </p:sp>
      <p:sp>
        <p:nvSpPr>
          <p:cNvPr id="17" name="Text 15"/>
          <p:cNvSpPr/>
          <p:nvPr/>
        </p:nvSpPr>
        <p:spPr>
          <a:xfrm>
            <a:off x="1051560" y="5257800"/>
            <a:ext cx="3657600" cy="365760"/>
          </a:xfrm>
          <a:prstGeom prst="rect">
            <a:avLst/>
          </a:prstGeom>
          <a:noFill/>
          <a:ln/>
        </p:spPr>
        <p:txBody>
          <a:bodyPr wrap="square" rtlCol="0" anchor="ctr"/>
          <a:lstStyle/>
          <a:p>
            <a:pPr indent="0" marL="0">
              <a:buNone/>
            </a:pPr>
            <a:r>
              <a:rPr lang="en-US" sz="1400" b="1" dirty="0">
                <a:solidFill>
                  <a:srgbClr val="EDF1F7"/>
                </a:solidFill>
                <a:latin typeface="Calibri" pitchFamily="34" charset="0"/>
                <a:ea typeface="Calibri" pitchFamily="34" charset="-122"/>
                <a:cs typeface="Calibri" pitchFamily="34" charset="-120"/>
              </a:rPr>
              <a:t>Production discipline</a:t>
            </a:r>
            <a:endParaRPr lang="en-US" sz="1400" dirty="0"/>
          </a:p>
        </p:txBody>
      </p:sp>
      <p:sp>
        <p:nvSpPr>
          <p:cNvPr id="18" name="Text 16"/>
          <p:cNvSpPr/>
          <p:nvPr/>
        </p:nvSpPr>
        <p:spPr>
          <a:xfrm>
            <a:off x="4846320" y="5212080"/>
            <a:ext cx="6858000" cy="914400"/>
          </a:xfrm>
          <a:prstGeom prst="rect">
            <a:avLst/>
          </a:prstGeom>
          <a:noFill/>
          <a:ln/>
        </p:spPr>
        <p:txBody>
          <a:bodyPr wrap="square" rtlCol="0" anchor="ctr"/>
          <a:lstStyle/>
          <a:p>
            <a:pPr indent="0" marL="0">
              <a:lnSpc>
                <a:spcPct val="140000"/>
              </a:lnSpc>
              <a:buNone/>
            </a:pPr>
            <a:r>
              <a:rPr lang="en-US" sz="1100" dirty="0">
                <a:solidFill>
                  <a:srgbClr val="A4ACBD"/>
                </a:solidFill>
                <a:latin typeface="Calibri" pitchFamily="34" charset="0"/>
                <a:ea typeface="Calibri" pitchFamily="34" charset="-122"/>
                <a:cs typeface="Calibri" pitchFamily="34" charset="-120"/>
              </a:rPr>
              <a:t>CI/CD with GitHub Actions, container deploys via Docker + OpenStack/OpenShift, API design reviews, Swagger + GitHub Wiki docs.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D14"/>
        </a:solidFill>
      </p:bgPr>
    </p:bg>
    <p:spTree>
      <p:nvGrpSpPr>
        <p:cNvPr id="1" name=""/>
        <p:cNvGrpSpPr/>
        <p:nvPr/>
      </p:nvGrpSpPr>
      <p:grpSpPr>
        <a:xfrm>
          <a:off x="0" y="0"/>
          <a:ext cx="0" cy="0"/>
          <a:chOff x="0" y="0"/>
          <a:chExt cx="0" cy="0"/>
        </a:xfrm>
      </p:grpSpPr>
      <p:sp>
        <p:nvSpPr>
          <p:cNvPr id="2" name="Shape 0"/>
          <p:cNvSpPr/>
          <p:nvPr/>
        </p:nvSpPr>
        <p:spPr>
          <a:xfrm>
            <a:off x="0" y="0"/>
            <a:ext cx="12191695" cy="45720"/>
          </a:xfrm>
          <a:prstGeom prst="rect">
            <a:avLst/>
          </a:prstGeom>
          <a:solidFill>
            <a:srgbClr val="C6FF3D"/>
          </a:solidFill>
          <a:ln/>
        </p:spPr>
      </p:sp>
      <p:sp>
        <p:nvSpPr>
          <p:cNvPr id="3" name="Shape 1"/>
          <p:cNvSpPr/>
          <p:nvPr/>
        </p:nvSpPr>
        <p:spPr>
          <a:xfrm>
            <a:off x="8534095" y="4114800"/>
            <a:ext cx="4572000" cy="4572000"/>
          </a:xfrm>
          <a:prstGeom prst="ellipse">
            <a:avLst/>
          </a:prstGeom>
          <a:solidFill>
            <a:srgbClr val="C6FF3D">
              <a:alpha val="12000"/>
            </a:srgbClr>
          </a:solidFill>
          <a:ln/>
        </p:spPr>
      </p:sp>
      <p:sp>
        <p:nvSpPr>
          <p:cNvPr id="4" name="Text 2"/>
          <p:cNvSpPr/>
          <p:nvPr/>
        </p:nvSpPr>
        <p:spPr>
          <a:xfrm>
            <a:off x="457200" y="6446520"/>
            <a:ext cx="11277295" cy="274320"/>
          </a:xfrm>
          <a:prstGeom prst="rect">
            <a:avLst/>
          </a:prstGeom>
          <a:noFill/>
          <a:ln/>
        </p:spPr>
        <p:txBody>
          <a:bodyPr wrap="square" rtlCol="0" anchor="ctr"/>
          <a:lstStyle/>
          <a:p>
            <a:pPr algn="l" indent="0" marL="0">
              <a:buNone/>
            </a:pPr>
            <a:r>
              <a:rPr lang="en-US" sz="900" spc="200" kern="0" dirty="0">
                <a:solidFill>
                  <a:srgbClr val="6B7388"/>
                </a:solidFill>
                <a:latin typeface="Consolas" pitchFamily="34" charset="0"/>
                <a:ea typeface="Consolas" pitchFamily="34" charset="-122"/>
                <a:cs typeface="Consolas" pitchFamily="34" charset="-120"/>
              </a:rPr>
              <a:t>Phuc (William) Pham · Software Developer · Adelaide, SA</a:t>
            </a:r>
            <a:endParaRPr lang="en-US" sz="900" dirty="0"/>
          </a:p>
        </p:txBody>
      </p:sp>
      <p:sp>
        <p:nvSpPr>
          <p:cNvPr id="5" name="Text 3"/>
          <p:cNvSpPr/>
          <p:nvPr/>
        </p:nvSpPr>
        <p:spPr>
          <a:xfrm>
            <a:off x="548640" y="411480"/>
            <a:ext cx="10972800" cy="365760"/>
          </a:xfrm>
          <a:prstGeom prst="rect">
            <a:avLst/>
          </a:prstGeom>
          <a:noFill/>
          <a:ln/>
        </p:spPr>
        <p:txBody>
          <a:bodyPr wrap="square" rtlCol="0" anchor="ctr"/>
          <a:lstStyle/>
          <a:p>
            <a:pPr indent="0" marL="0">
              <a:buNone/>
            </a:pPr>
            <a:r>
              <a:rPr lang="en-US" sz="1100" spc="400" kern="0" dirty="0">
                <a:solidFill>
                  <a:srgbClr val="C6FF3D"/>
                </a:solidFill>
                <a:latin typeface="Consolas" pitchFamily="34" charset="0"/>
                <a:ea typeface="Consolas" pitchFamily="34" charset="-122"/>
                <a:cs typeface="Consolas" pitchFamily="34" charset="-120"/>
              </a:rPr>
              <a:t>// 07  </a:t>
            </a:r>
            <a:pPr indent="0" marL="0">
              <a:buNone/>
            </a:pPr>
            <a:r>
              <a:rPr lang="en-US" sz="1100" spc="400" kern="0" dirty="0">
                <a:solidFill>
                  <a:srgbClr val="A4ACBD"/>
                </a:solidFill>
                <a:latin typeface="Consolas" pitchFamily="34" charset="0"/>
                <a:ea typeface="Consolas" pitchFamily="34" charset="-122"/>
                <a:cs typeface="Consolas" pitchFamily="34" charset="-120"/>
              </a:rPr>
              <a:t>LET'S BUILD</a:t>
            </a:r>
            <a:endParaRPr lang="en-US" sz="1100" dirty="0"/>
          </a:p>
        </p:txBody>
      </p:sp>
      <p:sp>
        <p:nvSpPr>
          <p:cNvPr id="6" name="Text 4"/>
          <p:cNvSpPr/>
          <p:nvPr/>
        </p:nvSpPr>
        <p:spPr>
          <a:xfrm>
            <a:off x="548640" y="1463040"/>
            <a:ext cx="10972800" cy="1371600"/>
          </a:xfrm>
          <a:prstGeom prst="rect">
            <a:avLst/>
          </a:prstGeom>
          <a:noFill/>
          <a:ln/>
        </p:spPr>
        <p:txBody>
          <a:bodyPr wrap="square" rtlCol="0" anchor="ctr"/>
          <a:lstStyle/>
          <a:p>
            <a:pPr indent="0" marL="0">
              <a:lnSpc>
                <a:spcPct val="100000"/>
              </a:lnSpc>
              <a:buNone/>
            </a:pPr>
            <a:r>
              <a:rPr lang="en-US" sz="5600" b="1" spc="-200" kern="0" dirty="0">
                <a:solidFill>
                  <a:srgbClr val="EDF1F7"/>
                </a:solidFill>
                <a:latin typeface="Calibri" pitchFamily="34" charset="0"/>
                <a:ea typeface="Calibri" pitchFamily="34" charset="-122"/>
                <a:cs typeface="Calibri" pitchFamily="34" charset="-120"/>
              </a:rPr>
              <a:t>Got a hard problem worth shipping?</a:t>
            </a:r>
            <a:endParaRPr lang="en-US" sz="5600" dirty="0"/>
          </a:p>
        </p:txBody>
      </p:sp>
      <p:sp>
        <p:nvSpPr>
          <p:cNvPr id="7" name="Text 5"/>
          <p:cNvSpPr/>
          <p:nvPr/>
        </p:nvSpPr>
        <p:spPr>
          <a:xfrm>
            <a:off x="548640" y="2788920"/>
            <a:ext cx="10972800" cy="914400"/>
          </a:xfrm>
          <a:prstGeom prst="rect">
            <a:avLst/>
          </a:prstGeom>
          <a:noFill/>
          <a:ln/>
        </p:spPr>
        <p:txBody>
          <a:bodyPr wrap="square" rtlCol="0" anchor="ctr"/>
          <a:lstStyle/>
          <a:p>
            <a:pPr indent="0" marL="0">
              <a:buNone/>
            </a:pPr>
            <a:r>
              <a:rPr lang="en-US" sz="5600" b="1" i="1" spc="-200" kern="0" dirty="0">
                <a:solidFill>
                  <a:srgbClr val="C6FF3D"/>
                </a:solidFill>
                <a:latin typeface="Calibri" pitchFamily="34" charset="0"/>
                <a:ea typeface="Calibri" pitchFamily="34" charset="-122"/>
                <a:cs typeface="Calibri" pitchFamily="34" charset="-120"/>
              </a:rPr>
              <a:t>Let's talk.</a:t>
            </a:r>
            <a:endParaRPr lang="en-US" sz="5600" dirty="0"/>
          </a:p>
        </p:txBody>
      </p:sp>
      <p:sp>
        <p:nvSpPr>
          <p:cNvPr id="8" name="Text 6"/>
          <p:cNvSpPr/>
          <p:nvPr/>
        </p:nvSpPr>
        <p:spPr>
          <a:xfrm>
            <a:off x="548640" y="4114800"/>
            <a:ext cx="9144000" cy="822960"/>
          </a:xfrm>
          <a:prstGeom prst="rect">
            <a:avLst/>
          </a:prstGeom>
          <a:noFill/>
          <a:ln/>
        </p:spPr>
        <p:txBody>
          <a:bodyPr wrap="square" rtlCol="0" anchor="ctr"/>
          <a:lstStyle/>
          <a:p>
            <a:pPr indent="0" marL="0">
              <a:lnSpc>
                <a:spcPct val="140000"/>
              </a:lnSpc>
              <a:buNone/>
            </a:pPr>
            <a:r>
              <a:rPr lang="en-US" sz="1400" dirty="0">
                <a:solidFill>
                  <a:srgbClr val="A4ACBD"/>
                </a:solidFill>
                <a:latin typeface="Calibri" pitchFamily="34" charset="0"/>
                <a:ea typeface="Calibri" pitchFamily="34" charset="-122"/>
                <a:cs typeface="Calibri" pitchFamily="34" charset="-120"/>
              </a:rPr>
              <a:t>Open to product &amp; fintech roles · Remote OK</a:t>
            </a:r>
            <a:endParaRPr lang="en-US" sz="1400" dirty="0"/>
          </a:p>
          <a:p>
            <a:pPr indent="0" marL="0">
              <a:lnSpc>
                <a:spcPct val="140000"/>
              </a:lnSpc>
              <a:buNone/>
            </a:pPr>
            <a:r>
              <a:rPr lang="en-US" sz="1400" dirty="0">
                <a:solidFill>
                  <a:srgbClr val="A4ACBD"/>
                </a:solidFill>
                <a:latin typeface="Calibri" pitchFamily="34" charset="0"/>
                <a:ea typeface="Calibri" pitchFamily="34" charset="-122"/>
                <a:cs typeface="Calibri" pitchFamily="34" charset="-120"/>
              </a:rPr>
              <a:t>Happy to chat about roles, collaborations, or a weird side project.</a:t>
            </a:r>
            <a:endParaRPr lang="en-US" sz="1400" dirty="0"/>
          </a:p>
        </p:txBody>
      </p:sp>
      <p:sp>
        <p:nvSpPr>
          <p:cNvPr id="9" name="Text 7"/>
          <p:cNvSpPr/>
          <p:nvPr/>
        </p:nvSpPr>
        <p:spPr>
          <a:xfrm>
            <a:off x="548640" y="5212080"/>
            <a:ext cx="1280160" cy="274320"/>
          </a:xfrm>
          <a:prstGeom prst="rect">
            <a:avLst/>
          </a:prstGeom>
          <a:noFill/>
          <a:ln/>
        </p:spPr>
        <p:txBody>
          <a:bodyPr wrap="square" rtlCol="0" anchor="ctr"/>
          <a:lstStyle/>
          <a:p>
            <a:pPr indent="0" marL="0">
              <a:buNone/>
            </a:pPr>
            <a:r>
              <a:rPr lang="en-US" sz="1000" b="1" spc="300" kern="0" dirty="0">
                <a:solidFill>
                  <a:srgbClr val="C6FF3D"/>
                </a:solidFill>
                <a:latin typeface="Consolas" pitchFamily="34" charset="0"/>
                <a:ea typeface="Consolas" pitchFamily="34" charset="-122"/>
                <a:cs typeface="Consolas" pitchFamily="34" charset="-120"/>
              </a:rPr>
              <a:t>EMAIL</a:t>
            </a:r>
            <a:endParaRPr lang="en-US" sz="1000" dirty="0"/>
          </a:p>
        </p:txBody>
      </p:sp>
      <p:sp>
        <p:nvSpPr>
          <p:cNvPr id="10" name="Text 8">
            <a:hlinkClick r:id="rId1" tooltip=""/>
          </p:cNvPr>
          <p:cNvSpPr/>
          <p:nvPr/>
        </p:nvSpPr>
        <p:spPr>
          <a:xfrm>
            <a:off x="1828800" y="5212080"/>
            <a:ext cx="7315200" cy="274320"/>
          </a:xfrm>
          <a:prstGeom prst="rect">
            <a:avLst/>
          </a:prstGeom>
          <a:noFill/>
          <a:ln/>
        </p:spPr>
        <p:txBody>
          <a:bodyPr wrap="square" rtlCol="0" anchor="ctr"/>
          <a:lstStyle/>
          <a:p>
            <a:pPr indent="0" marL="0">
              <a:buNone/>
            </a:pPr>
            <a:r>
              <a:rPr lang="en-US" sz="1200" u="sng" dirty="0">
                <a:solidFill>
                  <a:srgbClr val="EDF1F7"/>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hongphuc.pham@outlook.com</a:t>
            </a:r>
            <a:endParaRPr lang="en-US" sz="1200" dirty="0"/>
          </a:p>
        </p:txBody>
      </p:sp>
      <p:sp>
        <p:nvSpPr>
          <p:cNvPr id="11" name="Text 9"/>
          <p:cNvSpPr/>
          <p:nvPr/>
        </p:nvSpPr>
        <p:spPr>
          <a:xfrm>
            <a:off x="548640" y="5532120"/>
            <a:ext cx="1280160" cy="274320"/>
          </a:xfrm>
          <a:prstGeom prst="rect">
            <a:avLst/>
          </a:prstGeom>
          <a:noFill/>
          <a:ln/>
        </p:spPr>
        <p:txBody>
          <a:bodyPr wrap="square" rtlCol="0" anchor="ctr"/>
          <a:lstStyle/>
          <a:p>
            <a:pPr indent="0" marL="0">
              <a:buNone/>
            </a:pPr>
            <a:r>
              <a:rPr lang="en-US" sz="1000" b="1" spc="300" kern="0" dirty="0">
                <a:solidFill>
                  <a:srgbClr val="C6FF3D"/>
                </a:solidFill>
                <a:latin typeface="Consolas" pitchFamily="34" charset="0"/>
                <a:ea typeface="Consolas" pitchFamily="34" charset="-122"/>
                <a:cs typeface="Consolas" pitchFamily="34" charset="-120"/>
              </a:rPr>
              <a:t>GITHUB</a:t>
            </a:r>
            <a:endParaRPr lang="en-US" sz="1000" dirty="0"/>
          </a:p>
        </p:txBody>
      </p:sp>
      <p:sp>
        <p:nvSpPr>
          <p:cNvPr id="12" name="Text 10">
            <a:hlinkClick r:id="rId2" tooltip=""/>
          </p:cNvPr>
          <p:cNvSpPr/>
          <p:nvPr/>
        </p:nvSpPr>
        <p:spPr>
          <a:xfrm>
            <a:off x="1828800" y="5532120"/>
            <a:ext cx="7315200" cy="274320"/>
          </a:xfrm>
          <a:prstGeom prst="rect">
            <a:avLst/>
          </a:prstGeom>
          <a:noFill/>
          <a:ln/>
        </p:spPr>
        <p:txBody>
          <a:bodyPr wrap="square" rtlCol="0" anchor="ctr"/>
          <a:lstStyle/>
          <a:p>
            <a:pPr indent="0" marL="0">
              <a:buNone/>
            </a:pPr>
            <a:r>
              <a:rPr lang="en-US" sz="1200" u="sng" dirty="0">
                <a:solidFill>
                  <a:srgbClr val="EDF1F7"/>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github.com/hongphuc-pham</a:t>
            </a:r>
            <a:endParaRPr lang="en-US" sz="1200" dirty="0"/>
          </a:p>
        </p:txBody>
      </p:sp>
      <p:sp>
        <p:nvSpPr>
          <p:cNvPr id="13" name="Text 11"/>
          <p:cNvSpPr/>
          <p:nvPr/>
        </p:nvSpPr>
        <p:spPr>
          <a:xfrm>
            <a:off x="548640" y="5852160"/>
            <a:ext cx="1280160" cy="274320"/>
          </a:xfrm>
          <a:prstGeom prst="rect">
            <a:avLst/>
          </a:prstGeom>
          <a:noFill/>
          <a:ln/>
        </p:spPr>
        <p:txBody>
          <a:bodyPr wrap="square" rtlCol="0" anchor="ctr"/>
          <a:lstStyle/>
          <a:p>
            <a:pPr indent="0" marL="0">
              <a:buNone/>
            </a:pPr>
            <a:r>
              <a:rPr lang="en-US" sz="1000" b="1" spc="300" kern="0" dirty="0">
                <a:solidFill>
                  <a:srgbClr val="C6FF3D"/>
                </a:solidFill>
                <a:latin typeface="Consolas" pitchFamily="34" charset="0"/>
                <a:ea typeface="Consolas" pitchFamily="34" charset="-122"/>
                <a:cs typeface="Consolas" pitchFamily="34" charset="-120"/>
              </a:rPr>
              <a:t>LINKEDIN</a:t>
            </a:r>
            <a:endParaRPr lang="en-US" sz="1000" dirty="0"/>
          </a:p>
        </p:txBody>
      </p:sp>
      <p:sp>
        <p:nvSpPr>
          <p:cNvPr id="14" name="Text 12">
            <a:hlinkClick r:id="rId3" tooltip=""/>
          </p:cNvPr>
          <p:cNvSpPr/>
          <p:nvPr/>
        </p:nvSpPr>
        <p:spPr>
          <a:xfrm>
            <a:off x="1828800" y="5852160"/>
            <a:ext cx="7315200" cy="274320"/>
          </a:xfrm>
          <a:prstGeom prst="rect">
            <a:avLst/>
          </a:prstGeom>
          <a:noFill/>
          <a:ln/>
        </p:spPr>
        <p:txBody>
          <a:bodyPr wrap="square" rtlCol="0" anchor="ctr"/>
          <a:lstStyle/>
          <a:p>
            <a:pPr indent="0" marL="0">
              <a:buNone/>
            </a:pPr>
            <a:r>
              <a:rPr lang="en-US" sz="1200" u="sng" dirty="0">
                <a:solidFill>
                  <a:srgbClr val="EDF1F7"/>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linkedin.com/in/phucph</a:t>
            </a:r>
            <a:endParaRPr lang="en-US" sz="1200" dirty="0"/>
          </a:p>
        </p:txBody>
      </p:sp>
      <p:sp>
        <p:nvSpPr>
          <p:cNvPr id="15" name="Text 13"/>
          <p:cNvSpPr/>
          <p:nvPr/>
        </p:nvSpPr>
        <p:spPr>
          <a:xfrm>
            <a:off x="548640" y="6172200"/>
            <a:ext cx="1280160" cy="274320"/>
          </a:xfrm>
          <a:prstGeom prst="rect">
            <a:avLst/>
          </a:prstGeom>
          <a:noFill/>
          <a:ln/>
        </p:spPr>
        <p:txBody>
          <a:bodyPr wrap="square" rtlCol="0" anchor="ctr"/>
          <a:lstStyle/>
          <a:p>
            <a:pPr indent="0" marL="0">
              <a:buNone/>
            </a:pPr>
            <a:r>
              <a:rPr lang="en-US" sz="1000" b="1" spc="300" kern="0" dirty="0">
                <a:solidFill>
                  <a:srgbClr val="C6FF3D"/>
                </a:solidFill>
                <a:latin typeface="Consolas" pitchFamily="34" charset="0"/>
                <a:ea typeface="Consolas" pitchFamily="34" charset="-122"/>
                <a:cs typeface="Consolas" pitchFamily="34" charset="-120"/>
              </a:rPr>
              <a:t>PORTFOLIO</a:t>
            </a:r>
            <a:endParaRPr lang="en-US" sz="1000" dirty="0"/>
          </a:p>
        </p:txBody>
      </p:sp>
      <p:sp>
        <p:nvSpPr>
          <p:cNvPr id="16" name="Text 14">
            <a:hlinkClick r:id="rId4" tooltip=""/>
          </p:cNvPr>
          <p:cNvSpPr/>
          <p:nvPr/>
        </p:nvSpPr>
        <p:spPr>
          <a:xfrm>
            <a:off x="1828800" y="6172200"/>
            <a:ext cx="7315200" cy="274320"/>
          </a:xfrm>
          <a:prstGeom prst="rect">
            <a:avLst/>
          </a:prstGeom>
          <a:noFill/>
          <a:ln/>
        </p:spPr>
        <p:txBody>
          <a:bodyPr wrap="square" rtlCol="0" anchor="ctr"/>
          <a:lstStyle/>
          <a:p>
            <a:pPr indent="0" marL="0">
              <a:buNone/>
            </a:pPr>
            <a:r>
              <a:rPr lang="en-US" sz="1200" u="sng" dirty="0">
                <a:solidFill>
                  <a:srgbClr val="EDF1F7"/>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hongphuc-pham.github.io/page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Phuc Pham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Phuc Pham — Interview Showcase</dc:title>
  <dc:subject>PptxGenJS Presentation</dc:subject>
  <dc:creator>Phuc (William) Pham</dc:creator>
  <cp:lastModifiedBy>Phuc (William) Pham</cp:lastModifiedBy>
  <cp:revision>1</cp:revision>
  <dcterms:created xsi:type="dcterms:W3CDTF">2026-04-27T15:46:07Z</dcterms:created>
  <dcterms:modified xsi:type="dcterms:W3CDTF">2026-04-27T15:46:07Z</dcterms:modified>
</cp:coreProperties>
</file>